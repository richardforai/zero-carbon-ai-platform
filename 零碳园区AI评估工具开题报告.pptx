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notesSlides/notesSlide1.xml" Type="http://schemas.openxmlformats.org/officeDocument/2006/relationships/notesSlide"/><Relationship Id="rId25" Target="notesSlides/notesSlide2.xml" Type="http://schemas.openxmlformats.org/officeDocument/2006/relationships/notesSlide"/><Relationship Id="rId26" Target="notesSlides/notesSlide3.xml" Type="http://schemas.openxmlformats.org/officeDocument/2006/relationships/notesSlide"/><Relationship Id="rId27" Target="notesSlides/notesSlide4.xml" Type="http://schemas.openxmlformats.org/officeDocument/2006/relationships/notesSlide"/><Relationship Id="rId28" Target="notesSlides/notesSlide5.xml" Type="http://schemas.openxmlformats.org/officeDocument/2006/relationships/notesSlide"/><Relationship Id="rId29" Target="notesSlides/notesSlide6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7.xml" Type="http://schemas.openxmlformats.org/officeDocument/2006/relationships/notesSlide"/><Relationship Id="rId31" Target="notesSlides/notesSlide8.xml" Type="http://schemas.openxmlformats.org/officeDocument/2006/relationships/notesSlide"/><Relationship Id="rId32" Target="notesSlides/notesSlide9.xml" Type="http://schemas.openxmlformats.org/officeDocument/2006/relationships/notesSlide"/><Relationship Id="rId33" Target="notesSlides/notesSlide10.xml" Type="http://schemas.openxmlformats.org/officeDocument/2006/relationships/notesSlide"/><Relationship Id="rId34" Target="notesSlides/notesSlide11.xml" Type="http://schemas.openxmlformats.org/officeDocument/2006/relationships/notesSlide"/><Relationship Id="rId35" Target="notesSlides/notesSlide12.xml" Type="http://schemas.openxmlformats.org/officeDocument/2006/relationships/notesSlide"/><Relationship Id="rId36" Target="notesSlides/notesSlide13.xml" Type="http://schemas.openxmlformats.org/officeDocument/2006/relationships/notesSlide"/><Relationship Id="rId37" Target="notesSlides/notesSlide14.xml" Type="http://schemas.openxmlformats.org/officeDocument/2006/relationships/notesSlide"/><Relationship Id="rId38" Target="notesSlides/notesSlide15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尊敬的各位评委老师，大家下午好。我们今天汇报的课题是“零碳园区电力数据AI评估及建设策略生成模块”。这个项目旨在开发一个基于AI Agent的自动化工具，来解决当前园区在零碳评估中面临的效率低下、成本高昂等问题。接下来，我们将详细介绍本课题的研究背景、内容、方法和计划。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次汇报将围绕六个核心部分展开。首先，我们将介绍课题的总体情况和研究目标。其次，分析国内外在该领域的研究现状。接着，详细阐述我们拟采用的研究方法和技术实践方案。之后，我们会论证项目的可行性并展示其创新之处。最后，介绍具体的工作计划、团队分工以及我们参考的主要文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，让我们来看一下课题的核心内容。我们的目标是创建一个AI驱动的自动化评估工具。具体来说，我们将利用园区公开的用电数据，通过一系列AI智能体（Agent），自动完成从数据处理、碳排放计算到横向对比的全过程，并最终生成一份包含详细分析和建议的评估报告。为了确保我们的工具真正有用，我们还将通过深度访谈来验证和优化产品方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为项目设定了三个明确的量化目标。第一，我们将实现100%的原型交付，产出一个功能完整的可运行应用。第二，我们将完成至少2家相关企业的深度访谈，以确保我们的研究接地气。第三，也是最核心的，我们的工具将把过去需要数天才能完成的人工评估工作，缩短到10分钟以内，实现效率的巨大提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，我们分析一下国内外的现状。在国际上，虽然像欧盟CBAM这样的政策催生了碳核算需求，但现有的工具往往过于复杂和昂贵。而在国内，尽管零碳园区建设如火如荼，但市场上严重缺乏简单易用、成本低廉的自评工具。这正是我们项目的切入点，一个轻量化、高效率的AI评估工具存在着巨大的市场机会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针对市场的空白，我们的切入点非常明确。我们不追求大而全，而是聚焦于“用电数据到碳排报告”这一最小闭环，打造一个极致轻量化的工具。我们的核心优势在于三点：第一，极致轻量，用户只需上传用电数据即可获得评估报告；第二，需求导向，我们通过访谈确保产品实用；第三，效率优先，我们利用AI编程工具来加速开发过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为了实现我们的目标，我们计划采用四种研究方法。首先是“公开数据驱动法”，利用公开信息构建数据集。其次是“AI编程辅助法”，最大化利用AI工具来提高开发效率。第三是“最小原型法”，确保我们能快速交付一个可用的核心产品。最后是“深度访谈法”，让我们的研究始终与产业需求保持一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这是我们实践方案的核心——一个AI Agent流水线。整个流程非常清晰：用户上传数据后，第一个Agent负责数据清洗和分类；第二个Agent进行碳排放的折算；第三个Agent完成横向对标分析；最后，第四个Agent会自动生成一份专业的评估报告。这个流水线设计将所有繁琐的人工步骤都自动化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为了确保项目的轻量化和高效开发，我们在技术实现上做了精心设计。我们将使用成熟的开源库如Pandas来处理数据，通过Jinja2模板来生成报告，利用标准的API来调用大模型。最关键的是，大部分代码将由AI编程工具自动生成，这大大减少了人工编码的工作量，让我们能更专注于业务逻辑和用户体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从三个方面对项目的可行性进行了分析。首先，技术上是完全可行的，所有用到的技术都是成熟的，没有难以逾越的技术壁垒。其次，数据获取也不成问题，我们可以使用公开数据或模拟数据来验证流程。最后，访谈调研也是可行的，我们有信心在一周内完成对两家企业的访谈。因此，我们认为这个项目在技术、数据和资源上都是完全可行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本项目的创新性主要体现在三个方面。第一是极致轻量化，我们填补了市场上低成本自评工具的空白。第二是AI Agent带来的效率革命，将繁琐的人工工作压缩到极致。第三是我们建立了一个需求闭环，通过访谈确保产品不脱离实际，这大大增强了我们研究成果的说服力和实用价值。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我们为期五周的详细工作计划。第一周，我们将完成数据收集和开发环境的搭建。第二和第三周，我们将并行开发核心模块并完成企业访谈。第四周，我们会将所有模块集成为一个完整的流水线。最后一周，我们将进行全面测试，并准备结题报告和演示材料。整个计划紧凑而清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团队由两名成员组成。柯谨作为课题组组长，将负责整体方案设计、访谈实施以及最终的报告和汇报。徐青杨将主要负责技术开发工作，包括Python脚本的编写、Agent流水线的搭建和调试。我们两人分工明确，紧密协作，共同推进项目的顺利完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研究建立在坚实的理论和实践基础之上。这里列出了我们参考的核心文献，涵盖了国内的技术规范、研究论文，以及国际上的政策指南和前沿技术报告。这些文献为我们的课题提供了重要的理论支持和实践参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我的汇报到此结束。感谢各位评委老师的耐心聆听。我们深知项目还有许多需要完善的地方，恳请各位老师提出宝贵的意见和建议，帮助我们更好地推进后续工作。谢谢大家！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jpeg" Type="http://schemas.openxmlformats.org/officeDocument/2006/relationships/image"/><Relationship Id="rId3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.jpeg" Type="http://schemas.openxmlformats.org/officeDocument/2006/relationships/image"/><Relationship Id="rId3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6.jpeg" Type="http://schemas.openxmlformats.org/officeDocument/2006/relationships/image"/><Relationship Id="rId3" Target="../notesSlides/notesSlide15.xml" Type="http://schemas.openxmlformats.org/officeDocument/2006/relationships/notesSlide"/><Relationship Id="rId4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5000" b="500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19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406400" y="2565400"/>
            <a:ext cx="113792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零碳园区电力数据AI评估及建设策略生成模块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406400" y="330200"/>
            <a:ext cx="571500" cy="19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开题报告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06400" y="3885738"/>
            <a:ext cx="11379200" cy="171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实践单位： 清华大学气候与能源数字平台项目组</a:t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团队成员：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• 柯谨， 学号2024319002 建筑学院（组长）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• 徐青杨， 学号2024319363 化学工程系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130300" y="330200"/>
            <a:ext cx="1016000" cy="19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智慧能源组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1163300" y="317500"/>
            <a:ext cx="762000" cy="2667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2026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5019588" flipH="false" flipV="false">
            <a:off x="971550" y="419452"/>
            <a:ext cx="1143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5C7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304800" y="1117600"/>
            <a:ext cx="2959100" cy="8763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7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406400" y="5651500"/>
            <a:ext cx="355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本汇报围绕研究课题的核心框架展开，系统阐述研究目标、现状分析、技术方案与实施规划，为项目推进提供清晰的方向指引与可行性论证。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7044" flipH="false" flipV="false">
            <a:off x="5588007" y="6457950"/>
            <a:ext cx="6197600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mpd="sng" cap="flat">
            <a:solidFill>
              <a:srgbClr val="2B2F36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5588000" y="1968500"/>
            <a:ext cx="61976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r>
              <a:rPr lang="en-US" b="false" i="false" strike="noStrike" u="none" sz="2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课题概述与研究目标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7044" flipH="false" flipV="false">
            <a:off x="5588007" y="2597150"/>
            <a:ext cx="6197600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mpd="sng" cap="flat">
            <a:solidFill>
              <a:srgbClr val="2B2F36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5588000" y="2730500"/>
            <a:ext cx="61976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r>
              <a:rPr lang="en-US" b="false" i="false" strike="noStrike" u="none" sz="2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国内外现状分析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7044" flipH="false" flipV="false">
            <a:off x="5588007" y="3359150"/>
            <a:ext cx="6197600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mpd="sng" cap="flat">
            <a:solidFill>
              <a:srgbClr val="2B2F36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5588000" y="3492500"/>
            <a:ext cx="61976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r>
              <a:rPr lang="en-US" b="false" i="false" strike="noStrike" u="none" sz="2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研究方法与实践方案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-7044" flipH="false" flipV="false">
            <a:off x="5588007" y="4121150"/>
            <a:ext cx="6197600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mpd="sng" cap="flat">
            <a:solidFill>
              <a:srgbClr val="2B2F36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5588000" y="4254500"/>
            <a:ext cx="61976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r>
              <a:rPr lang="en-US" b="false" i="false" strike="noStrike" u="none" sz="2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可行性分析与创新点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7044" flipH="false" flipV="false">
            <a:off x="5588007" y="4883150"/>
            <a:ext cx="6197600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mpd="sng" cap="flat">
            <a:solidFill>
              <a:srgbClr val="2B2F36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5588000" y="5016500"/>
            <a:ext cx="61976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r>
              <a:rPr lang="en-US" b="false" i="false" strike="noStrike" u="none" sz="2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工作计划与团队分工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7044" flipH="false" flipV="false">
            <a:off x="5588007" y="5645150"/>
            <a:ext cx="6197600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mpd="sng" cap="flat">
            <a:solidFill>
              <a:srgbClr val="2B2F36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5588000" y="5778500"/>
            <a:ext cx="61976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r>
              <a:rPr lang="en-US" b="false" i="false" strike="noStrike" u="none" sz="2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参考文献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1176000" y="330200"/>
            <a:ext cx="762000" cy="19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2024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06400" y="317500"/>
            <a:ext cx="762000" cy="19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课题汇报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130300" y="317500"/>
            <a:ext cx="762000" cy="19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项目组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rot="5019588" flipH="false" flipV="false">
            <a:off x="971550" y="419452"/>
            <a:ext cx="1143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5C7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10648" r="8449" t="0" b="0"/>
          <a:stretch>
            <a:fillRect/>
          </a:stretch>
        </p:blipFill>
        <p:spPr>
          <a:xfrm rot="0" flipH="false" flipV="false">
            <a:off x="0" y="0"/>
            <a:ext cx="8877300" cy="685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406400" y="3810000"/>
            <a:ext cx="6870700" cy="8763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AI驱动的园区碳评估新范式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10800000" flipH="false" flipV="false">
            <a:off x="7912100" y="0"/>
            <a:ext cx="42799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419100" y="3289300"/>
            <a:ext cx="7353300" cy="6477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本课题聚焦单个产业园区，构建极简AI Agent工作流，打通从用电数据采集、碳排折算到评估报告生成的全链路，实现零碳评估的自动化与智能化，为园区低碳转型提供高效决策工具。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216900" y="774700"/>
            <a:ext cx="3556000" cy="14097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评估模式的智能化升级</a:t>
            </a: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传统园区碳评估存在人工核算效率低、数据滞后、对标分析难等痛点。本方案以AI Agent为核心，将繁琐的人工流程转化为自动化作业，大幅缩短评估周期，提升碳数据的准确性与时效性。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216900" y="5892800"/>
            <a:ext cx="3556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该范式将成为园区碳管理的新标配，助力园区精准识别减排潜力，科学制定降碳路线，加速迈向绿色低碳的高质量发展阶段。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216900" y="2438400"/>
            <a:ext cx="1739900" cy="1651000"/>
          </a:xfrm>
          <a:prstGeom prst="roundRect">
            <a:avLst>
              <a:gd name="adj" fmla="val 3846"/>
            </a:avLst>
          </a:prstGeom>
          <a:solidFill>
            <a:srgbClr val="8A8D98">
              <a:alpha val="31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033000" y="2438400"/>
            <a:ext cx="1739900" cy="1651000"/>
          </a:xfrm>
          <a:prstGeom prst="roundRect">
            <a:avLst>
              <a:gd name="adj" fmla="val 3846"/>
            </a:avLst>
          </a:prstGeom>
          <a:solidFill>
            <a:srgbClr val="8A8D98">
              <a:alpha val="31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033000" y="4089400"/>
            <a:ext cx="1739900" cy="1638300"/>
          </a:xfrm>
          <a:prstGeom prst="roundRect">
            <a:avLst>
              <a:gd name="adj" fmla="val 3875"/>
            </a:avLst>
          </a:prstGeom>
          <a:solidFill>
            <a:srgbClr val="8A8D98">
              <a:alpha val="31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407400" y="2527300"/>
            <a:ext cx="1371600" cy="14859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数据驱动底座</a:t>
            </a:r>
            <a:r>
              <a:rPr lang="en-US" b="fals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整合园区用电数据、企业行业分布等核心信息，为评估筑牢真实数据基础。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223500" y="2527300"/>
            <a:ext cx="1371600" cy="14859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 Agent 赋能</a:t>
            </a:r>
            <a:r>
              <a:rPr lang="en-US" b="fals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智能体自动完成数据清洗、碳排折算及行业横向对标，替代人工重复作业。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216900" y="4089400"/>
            <a:ext cx="1739900" cy="1638300"/>
          </a:xfrm>
          <a:prstGeom prst="roundRect">
            <a:avLst>
              <a:gd name="adj" fmla="val 3875"/>
            </a:avLst>
          </a:prstGeom>
          <a:solidFill>
            <a:srgbClr val="8A8D98">
              <a:alpha val="31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407400" y="4343400"/>
            <a:ext cx="1371600" cy="1244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智能报告输出</a:t>
            </a:r>
            <a:r>
              <a:rPr lang="en-US" b="fals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一键生成含碳排放画像、差距分析与定制化节电建议的完整评估报告。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223500" y="4343400"/>
            <a:ext cx="1371600" cy="1244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产业需求验证</a:t>
            </a:r>
            <a:r>
              <a:rPr lang="en-US" b="fals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通过业界深度访谈与实地调研，确保评估成果贴合园区运营的真实需求。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06400" y="330200"/>
            <a:ext cx="571500" cy="2667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零碳园区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130300" y="330200"/>
            <a:ext cx="571500" cy="2667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智慧能源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1264900" y="330200"/>
            <a:ext cx="584200" cy="19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课题概览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rot="5019588" flipH="false" flipV="false">
            <a:off x="971550" y="419452"/>
            <a:ext cx="1143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5C7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7137400" y="0"/>
            <a:ext cx="50546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-114300" y="0"/>
            <a:ext cx="12306300" cy="68580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000000">
                  <a:alpha val="100000"/>
                </a:srgbClr>
              </a:gs>
              <a:gs pos="61000">
                <a:srgbClr val="171717">
                  <a:alpha val="100000"/>
                </a:srgbClr>
              </a:gs>
              <a:gs pos="79000">
                <a:srgbClr val="070707">
                  <a:alpha val="0"/>
                </a:srgbClr>
              </a:gs>
              <a:gs pos="91000">
                <a:srgbClr val="030303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406400" y="330200"/>
            <a:ext cx="584200" cy="19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项目指标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130300" y="330200"/>
            <a:ext cx="584200" cy="19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研究规划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5937" flipH="false" flipV="false">
            <a:off x="406405" y="2254250"/>
            <a:ext cx="7353300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mpd="sng" cap="flat">
            <a:solidFill>
              <a:srgbClr val="FFF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7" id="7"/>
          <p:cNvCxnSpPr/>
          <p:nvPr/>
        </p:nvCxnSpPr>
        <p:spPr>
          <a:xfrm rot="-5937" flipH="false" flipV="false">
            <a:off x="406405" y="3168650"/>
            <a:ext cx="7353300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mpd="sng" cap="flat">
            <a:solidFill>
              <a:srgbClr val="FFF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8" id="8"/>
          <p:cNvCxnSpPr/>
          <p:nvPr/>
        </p:nvCxnSpPr>
        <p:spPr>
          <a:xfrm rot="-5937" flipH="false" flipV="false">
            <a:off x="406405" y="4070350"/>
            <a:ext cx="7353300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mpd="sng" cap="flat">
            <a:solidFill>
              <a:srgbClr val="FFF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406400" y="1371600"/>
            <a:ext cx="2133600" cy="787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100">
                <a:solidFill>
                  <a:srgbClr val="FFFFFF"/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100%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06400" y="2273300"/>
            <a:ext cx="2133600" cy="787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100">
                <a:solidFill>
                  <a:srgbClr val="FFFFFF"/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3+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06400" y="3187700"/>
            <a:ext cx="3022600" cy="787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100">
                <a:solidFill>
                  <a:srgbClr val="FFFFFF"/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10 Min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2971800" y="1828800"/>
            <a:ext cx="177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原型交付率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953000" y="1244600"/>
            <a:ext cx="2413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产出可运行的Python脚本或Streamlit应用，实现功能完整的可交互原型，确保技术方案可落地验证。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2971800" y="2730500"/>
            <a:ext cx="177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深度访谈企业数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953000" y="2374900"/>
            <a:ext cx="2413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完成2家以上业界相关企业的深度调研访谈，挖掘真实业务痛点、场景需求与行业最佳实践。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2971800" y="3657600"/>
            <a:ext cx="177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报告生成时效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940300" y="3314700"/>
            <a:ext cx="2413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将传统需2-3天的人工信息整理与报告编制工作，通过自动化工具压缩至10分钟内完成。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406400" y="5638800"/>
            <a:ext cx="73533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本研究以可量化的目标为导向，从技术落地、行业洞察、效率跃升三个维度推进，确保研究成果兼具理论价值与实际应用意义，为后续方案落地提供坚实支撑。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06400" y="4686300"/>
            <a:ext cx="6007100" cy="8763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拟达到的研究目标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1264900" y="330200"/>
            <a:ext cx="584200" cy="19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目标概览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rot="5019588" flipH="false" flipV="false">
            <a:off x="971550" y="419452"/>
            <a:ext cx="1143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5C7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5400000" flipH="false" flipV="true">
            <a:off x="2654300" y="-2679700"/>
            <a:ext cx="6921500" cy="122555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141412">
                  <a:alpha val="100000"/>
                </a:srgbClr>
              </a:gs>
              <a:gs pos="53000">
                <a:srgbClr val="131518">
                  <a:alpha val="100000"/>
                </a:srgbClr>
              </a:gs>
              <a:gs pos="78000">
                <a:srgbClr val="111734">
                  <a:alpha val="100000"/>
                </a:srgbClr>
              </a:gs>
              <a:gs pos="90000">
                <a:srgbClr val="0F1E51">
                  <a:alpha val="100000"/>
                </a:srgbClr>
              </a:gs>
              <a:gs pos="100000">
                <a:srgbClr val="031968">
                  <a:alpha val="10000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406400" y="1270000"/>
            <a:ext cx="5384800" cy="16637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8000">
                <a:solidFill>
                  <a:srgbClr val="FFFFFF"/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供需错配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0" flipH="false" flipV="false">
            <a:off x="-457200" y="7607300"/>
            <a:ext cx="13855706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EE0E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406400" y="4927600"/>
            <a:ext cx="4851400" cy="1320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欧盟CBAM机制强力推动出口型园区的碳核算需求爆发，市场对合规性工具有迫切需求。但现有MeetCarbon AI等产品多为全口径核算方案，存在部署成本高、定制化开发周期长的问题，难以适配数量庞大的中小园区对低成本、轻量化自评工具的实际需求。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791200" y="2159000"/>
            <a:ext cx="5715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园区碳核算市场核心洞察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3849" flipH="false" flipV="false">
            <a:off x="406404" y="3422650"/>
            <a:ext cx="11341100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mpd="sng" cap="flat">
            <a:solidFill>
              <a:srgbClr val="FFF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8" id="8"/>
          <p:cNvCxnSpPr/>
          <p:nvPr/>
        </p:nvCxnSpPr>
        <p:spPr>
          <a:xfrm rot="5385676" flipH="false" flipV="false">
            <a:off x="4114800" y="4946663"/>
            <a:ext cx="3048000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mpd="sng" cap="flat">
            <a:solidFill>
              <a:srgbClr val="FFF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6007100" y="4927600"/>
            <a:ext cx="177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-152400" marL="152400">
              <a:lnSpc>
                <a:spcPct val="125000"/>
              </a:lnSpc>
              <a:buClr>
                <a:srgbClr val="FFFFFF"/>
              </a:buClr>
              <a:buChar char="•"/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52个零碳试点园区缺乏低成本自评工具，市场存在明显空白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007100" y="3733800"/>
            <a:ext cx="2997200" cy="8763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国内现状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988300" y="4914900"/>
            <a:ext cx="177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-152400" marL="152400">
              <a:lnSpc>
                <a:spcPct val="125000"/>
              </a:lnSpc>
              <a:buClr>
                <a:srgbClr val="FFFFFF"/>
              </a:buClr>
              <a:buChar char="•"/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现有AI产品侧重生产工艺优化，而非园区碳效的快速自评估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9906000" y="4927600"/>
            <a:ext cx="177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-152400" marL="152400">
              <a:lnSpc>
                <a:spcPct val="125000"/>
              </a:lnSpc>
              <a:buClr>
                <a:srgbClr val="FFFFFF"/>
              </a:buClr>
              <a:buChar char="•"/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行业急需“用电单指标+快速自评”的轻量化Agent解决方案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007100" y="5765800"/>
            <a:ext cx="177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-152400" marL="152400">
              <a:lnSpc>
                <a:spcPct val="125000"/>
              </a:lnSpc>
              <a:buClr>
                <a:srgbClr val="FFFFFF"/>
              </a:buClr>
              <a:buChar char="•"/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中小园区预算有限，难以承担传统碳核算的高昂服务费用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988300" y="5753100"/>
            <a:ext cx="177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-152400" marL="152400">
              <a:lnSpc>
                <a:spcPct val="125000"/>
              </a:lnSpc>
              <a:buClr>
                <a:srgbClr val="FFFFFF"/>
              </a:buClr>
              <a:buChar char="•"/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双碳政策持续深化，园区低碳转型已从倡议转向硬性要求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06400" y="3733800"/>
            <a:ext cx="2997200" cy="8763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国际现状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06400" y="330200"/>
            <a:ext cx="762000" cy="2667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现状洞察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130300" y="330200"/>
            <a:ext cx="1016000" cy="2667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碳核算市场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1264900" y="330200"/>
            <a:ext cx="762000" cy="19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行业分析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rot="5019588" flipH="false" flipV="false">
            <a:off x="971550" y="419452"/>
            <a:ext cx="1143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5C7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10648" r="8449" t="0" b="0"/>
          <a:stretch>
            <a:fillRect/>
          </a:stretch>
        </p:blipFill>
        <p:spPr>
          <a:xfrm rot="0" flipH="false" flipV="false">
            <a:off x="0" y="0"/>
            <a:ext cx="8877300" cy="685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406400" y="4114800"/>
            <a:ext cx="3771900" cy="8763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差异化定位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10800000" flipH="false" flipV="false">
            <a:off x="7912100" y="0"/>
            <a:ext cx="42799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419100" y="3149600"/>
            <a:ext cx="7353300" cy="6477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我们摒弃大而全的传统核算模式，聚焦“用电数据→碳排报告”的最小闭环，以极致轻量化的工具形态切入市场，大幅降低企业碳评估的门槛与成本，实现快速落地与高效应用。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216900" y="533400"/>
            <a:ext cx="3556000" cy="11557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核心设计理念</a:t>
            </a:r>
            <a:r>
              <a:rPr lang="en-US" b="fals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针对传统碳核算方案流程复杂、成本高昂的痛点，本方案以“轻量、实用、高效”为核心。通过简化数据采集维度、依托真实产业需求反向设计功能、利用AI技术加速开发，打造贴合中小企业需求的轻量化碳排评估工具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216900" y="5981700"/>
            <a:ext cx="3556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这一差异化定位精准填补了市场空白，以低成本、高效率的优势，为中小企业的碳管理提供了可快速落地的实践路径。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216900" y="2082800"/>
            <a:ext cx="1739900" cy="1397000"/>
          </a:xfrm>
          <a:prstGeom prst="roundRect">
            <a:avLst>
              <a:gd name="adj" fmla="val 4545"/>
            </a:avLst>
          </a:prstGeom>
          <a:solidFill>
            <a:srgbClr val="8A8D98">
              <a:alpha val="31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033000" y="2082800"/>
            <a:ext cx="1739900" cy="1397000"/>
          </a:xfrm>
          <a:prstGeom prst="roundRect">
            <a:avLst>
              <a:gd name="adj" fmla="val 4545"/>
            </a:avLst>
          </a:prstGeom>
          <a:solidFill>
            <a:srgbClr val="8A8D98">
              <a:alpha val="31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033000" y="3543300"/>
            <a:ext cx="1739900" cy="1409700"/>
          </a:xfrm>
          <a:prstGeom prst="roundRect">
            <a:avLst>
              <a:gd name="adj" fmla="val 4504"/>
            </a:avLst>
          </a:prstGeom>
          <a:solidFill>
            <a:srgbClr val="8A8D98">
              <a:alpha val="31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407400" y="2247900"/>
            <a:ext cx="1371600" cy="914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极致轻量</a:t>
            </a:r>
            <a:r>
              <a:rPr lang="en-US" b="fals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用电单指标+公开数据即可评估，门槛远低于传统咨询。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223500" y="2247900"/>
            <a:ext cx="1371600" cy="914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需求导向</a:t>
            </a:r>
            <a:r>
              <a:rPr lang="en-US" b="fals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业界访谈反向验证需求，贴合产业实际，拒绝闭门造车。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216900" y="3543300"/>
            <a:ext cx="1739900" cy="1409700"/>
          </a:xfrm>
          <a:prstGeom prst="roundRect">
            <a:avLst>
              <a:gd name="adj" fmla="val 4504"/>
            </a:avLst>
          </a:prstGeom>
          <a:solidFill>
            <a:srgbClr val="8A8D98">
              <a:alpha val="31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407400" y="3683000"/>
            <a:ext cx="1371600" cy="914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效率优先</a:t>
            </a:r>
            <a:r>
              <a:rPr lang="en-US" b="fals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AI生成核心代码，人工仅调参，大幅压缩开发周期。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223500" y="3683000"/>
            <a:ext cx="1371600" cy="914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快速闭环</a:t>
            </a:r>
            <a:r>
              <a:rPr lang="en-US" b="fals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从数据输入到报告输出，实现碳排评估的即插即用。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06400" y="330200"/>
            <a:ext cx="571500" cy="2667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课题切入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130300" y="330200"/>
            <a:ext cx="571500" cy="2667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核心策略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1264900" y="330200"/>
            <a:ext cx="584200" cy="19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碳排评估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rot="5019588" flipH="false" flipV="false">
            <a:off x="971550" y="419452"/>
            <a:ext cx="1143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5C7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0" id="20"/>
          <p:cNvSpPr/>
          <p:nvPr/>
        </p:nvSpPr>
        <p:spPr>
          <a:xfrm rot="0" flipH="false" flipV="false">
            <a:off x="2913836" y="7334029"/>
            <a:ext cx="1143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406400" y="317500"/>
            <a:ext cx="571500" cy="19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研究方案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5019588" flipH="false" flipV="false">
            <a:off x="971550" y="419452"/>
            <a:ext cx="1143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5C7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1130300" y="317500"/>
            <a:ext cx="762000" cy="19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方法论体系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1264900" y="330200"/>
            <a:ext cx="571500" cy="19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实施路径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93700" y="647700"/>
            <a:ext cx="762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拟采取的研究方法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31800" y="1879600"/>
            <a:ext cx="177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01 数据驱动：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336800" y="1879600"/>
            <a:ext cx="1524000" cy="279400"/>
          </a:xfrm>
          <a:prstGeom prst="roundRect">
            <a:avLst/>
          </a:prstGeom>
          <a:solidFill>
            <a:srgbClr val="ECECE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多源公开采集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987800" y="1879600"/>
            <a:ext cx="1524000" cy="279400"/>
          </a:xfrm>
          <a:prstGeom prst="roundRect">
            <a:avLst/>
          </a:prstGeom>
          <a:solidFill>
            <a:srgbClr val="ECECE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模拟数据集构建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638800" y="1879600"/>
            <a:ext cx="1524000" cy="279400"/>
          </a:xfrm>
          <a:prstGeom prst="roundRect">
            <a:avLst/>
          </a:prstGeom>
          <a:solidFill>
            <a:srgbClr val="ECECE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降低获取门槛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2336800" y="2235200"/>
            <a:ext cx="914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0555F"/>
                </a:solidFill>
                <a:latin typeface="Noto Sans SC"/>
                <a:ea typeface="Noto Sans SC"/>
                <a:cs typeface="Noto Sans SC"/>
                <a:sym typeface="Noto Sans SC"/>
              </a:rPr>
              <a:t>通过收集目标园区的公开信息、行业报告及网络数据源，构建高还原度的模拟数据集，解决数据获取难的痛点，为后续模型训练与分析提供基础支撑。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31800" y="2768600"/>
            <a:ext cx="177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02 智能辅助：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2336800" y="2768600"/>
            <a:ext cx="1524000" cy="279400"/>
          </a:xfrm>
          <a:prstGeom prst="roundRect">
            <a:avLst/>
          </a:prstGeom>
          <a:solidFill>
            <a:srgbClr val="ECECE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AI代码生成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987800" y="2768600"/>
            <a:ext cx="1524000" cy="279400"/>
          </a:xfrm>
          <a:prstGeom prst="roundRect">
            <a:avLst/>
          </a:prstGeom>
          <a:solidFill>
            <a:srgbClr val="ECECE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提示词工程设计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638800" y="2768600"/>
            <a:ext cx="1524000" cy="279400"/>
          </a:xfrm>
          <a:prstGeom prst="roundRect">
            <a:avLst/>
          </a:prstGeom>
          <a:solidFill>
            <a:srgbClr val="ECECE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人工结果校验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2336800" y="3124200"/>
            <a:ext cx="914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0555F"/>
                </a:solidFill>
                <a:latin typeface="Noto Sans SC"/>
                <a:ea typeface="Noto Sans SC"/>
                <a:cs typeface="Noto Sans SC"/>
                <a:sym typeface="Noto Sans SC"/>
              </a:rPr>
              <a:t>全程利用AI工具辅助编写Python脚本与自动化程序，人工聚焦于提示词优化、逻辑设计及结果的专业校验，大幅提升开发效率与代码规范性。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31800" y="3657600"/>
            <a:ext cx="177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03 敏捷原型：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2336800" y="3657600"/>
            <a:ext cx="1524000" cy="279400"/>
          </a:xfrm>
          <a:prstGeom prst="roundRect">
            <a:avLst/>
          </a:prstGeom>
          <a:solidFill>
            <a:srgbClr val="ECECE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最简线性流程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3987800" y="3657600"/>
            <a:ext cx="1524000" cy="279400"/>
          </a:xfrm>
          <a:prstGeom prst="roundRect">
            <a:avLst/>
          </a:prstGeom>
          <a:solidFill>
            <a:srgbClr val="ECECE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Agent自主迭代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5638800" y="3657600"/>
            <a:ext cx="1524000" cy="279400"/>
          </a:xfrm>
          <a:prstGeom prst="roundRect">
            <a:avLst/>
          </a:prstGeom>
          <a:solidFill>
            <a:srgbClr val="ECECE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核心功能落地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2336800" y="4013200"/>
            <a:ext cx="914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0555F"/>
                </a:solidFill>
                <a:latin typeface="Noto Sans SC"/>
                <a:ea typeface="Noto Sans SC"/>
                <a:cs typeface="Noto Sans SC"/>
                <a:sym typeface="Noto Sans SC"/>
              </a:rPr>
              <a:t>优先搭建具备核心价值的最简线性流程原型，通过快速验证与反馈逐步增加Agent的自主性与复杂交互能力，确保项目阶段性成果的快速交付与迭代。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431800" y="4546600"/>
            <a:ext cx="177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04 需求锚定：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2336800" y="4546600"/>
            <a:ext cx="1524000" cy="279400"/>
          </a:xfrm>
          <a:prstGeom prst="roundRect">
            <a:avLst/>
          </a:prstGeom>
          <a:solidFill>
            <a:srgbClr val="ECECE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半结构化访谈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3987800" y="4546600"/>
            <a:ext cx="1524000" cy="279400"/>
          </a:xfrm>
          <a:prstGeom prst="roundRect">
            <a:avLst/>
          </a:prstGeom>
          <a:solidFill>
            <a:srgbClr val="ECECE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真实需求挖掘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5638800" y="4546600"/>
            <a:ext cx="1524000" cy="279400"/>
          </a:xfrm>
          <a:prstGeom prst="roundRect">
            <a:avLst/>
          </a:prstGeom>
          <a:solidFill>
            <a:srgbClr val="ECECE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指导结论输出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2336800" y="4902200"/>
            <a:ext cx="914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0555F"/>
                </a:solidFill>
                <a:latin typeface="Noto Sans SC"/>
                <a:ea typeface="Noto Sans SC"/>
                <a:cs typeface="Noto Sans SC"/>
                <a:sym typeface="Noto Sans SC"/>
              </a:rPr>
              <a:t>面向行业专家与实际用户开展半结构化深度访谈，挖掘真实场景下的核心需求与痛点，以此指导原型的迭代优化与最终研究结论的输出方向。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431800" y="5664200"/>
            <a:ext cx="5588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0"/>
          </a:bodyPr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研究方法的核心在于“效率与务实并重”，通过数据与技术双轮驱动，结合敏捷开发与用户视角的需求验证，确保研究成果既具备理论支撑，又贴合产业实际应用场景。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146800" y="5664200"/>
            <a:ext cx="5588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0"/>
          </a:bodyPr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四种方法相互配合，形成从数据基础构建、技术工具赋能、产品快速验证到需求闭环的完整研究闭环，为项目的顺利推进与成果产出提供坚实的方法论保障。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924800" y="1435100"/>
            <a:ext cx="152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0"/>
          </a:bodyPr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01 数据处理Agent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406400" y="889000"/>
            <a:ext cx="3606800" cy="154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4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AI Agent</a:t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4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流水线方案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406400" y="4940300"/>
            <a:ext cx="2794000" cy="15367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0555F"/>
                </a:solidFill>
                <a:latin typeface="Noto Sans SC"/>
                <a:ea typeface="Noto Sans SC"/>
                <a:cs typeface="Noto Sans SC"/>
                <a:sym typeface="Noto Sans SC"/>
              </a:rPr>
              <a:t>依托多智能体（Agent）协同架构，打造从数据清洗到报告输出的全自动化碳管理流水线。通过智能分工实现碳核算、对标与分析的高效闭环，大幅降低人工成本，为园区低碳运营提供精准决策支撑。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rcRect l="2849" r="1709" t="0" b="0"/>
          <a:stretch>
            <a:fillRect/>
          </a:stretch>
        </p:blipFill>
        <p:spPr>
          <a:xfrm rot="0" flipH="false" flipV="false">
            <a:off x="3556000" y="406400"/>
            <a:ext cx="4254500" cy="60579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</p:pic>
      <p:cxnSp>
        <p:nvCxnSpPr>
          <p:cNvPr name="Connector 6" id="6"/>
          <p:cNvCxnSpPr/>
          <p:nvPr/>
        </p:nvCxnSpPr>
        <p:spPr>
          <a:xfrm rot="-10261" flipH="false" flipV="false">
            <a:off x="7518409" y="1733550"/>
            <a:ext cx="4254500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mpd="sng" cap="flat">
            <a:solidFill>
              <a:srgbClr val="969696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7" id="7"/>
          <p:cNvCxnSpPr/>
          <p:nvPr/>
        </p:nvCxnSpPr>
        <p:spPr>
          <a:xfrm rot="-9444" flipH="false" flipV="false">
            <a:off x="7150109" y="2736850"/>
            <a:ext cx="4622800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mpd="sng" cap="flat">
            <a:solidFill>
              <a:srgbClr val="969696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8" id="8"/>
          <p:cNvCxnSpPr/>
          <p:nvPr/>
        </p:nvCxnSpPr>
        <p:spPr>
          <a:xfrm rot="-10261" flipH="false" flipV="false">
            <a:off x="7518409" y="3752850"/>
            <a:ext cx="4254500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mpd="sng" cap="flat">
            <a:solidFill>
              <a:srgbClr val="969696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9" id="9"/>
          <p:cNvCxnSpPr/>
          <p:nvPr/>
        </p:nvCxnSpPr>
        <p:spPr>
          <a:xfrm rot="-10844" flipH="false" flipV="false">
            <a:off x="7747010" y="4781550"/>
            <a:ext cx="4025900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mpd="sng" cap="flat">
            <a:solidFill>
              <a:srgbClr val="969696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7924800" y="2425700"/>
            <a:ext cx="152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0"/>
          </a:bodyPr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02 碳排折算Agent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924800" y="3467100"/>
            <a:ext cx="152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0"/>
          </a:bodyPr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03 横向对标Agent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924800" y="4483100"/>
            <a:ext cx="152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0"/>
          </a:bodyPr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04 报告生成Agent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639300" y="1765300"/>
            <a:ext cx="22225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50555F"/>
                </a:solidFill>
                <a:latin typeface="Noto Sans SC"/>
                <a:ea typeface="Noto Sans SC"/>
                <a:cs typeface="Noto Sans SC"/>
                <a:sym typeface="Noto Sans SC"/>
              </a:rPr>
              <a:t>对园区能耗原始数据进行清洗、去噪与校验，按行业标准完成数据结构化分类，为后续核算建立高质量数据基础。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9639300" y="2768600"/>
            <a:ext cx="22225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50555F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基于国家碳排放核算标准与行业排放因子，自动将电、水、气等能耗数据换算为对应的碳排放量，生成标准化碳数据。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9639300" y="3784600"/>
            <a:ext cx="22225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50555F"/>
                </a:solidFill>
                <a:latin typeface="Noto Sans SC"/>
                <a:ea typeface="Noto Sans SC"/>
                <a:cs typeface="Noto Sans SC"/>
                <a:sym typeface="Noto Sans SC"/>
              </a:rPr>
              <a:t>接入同行业、同规模园区的碳排放基准数据，从单位产值碳排、能效水平等维度进行智能对比，识别能效差距。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9639300" y="4813300"/>
            <a:ext cx="22225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50555F"/>
                </a:solidFill>
                <a:latin typeface="Noto Sans SC"/>
                <a:ea typeface="Noto Sans SC"/>
                <a:cs typeface="Noto Sans SC"/>
                <a:sym typeface="Noto Sans SC"/>
              </a:rPr>
              <a:t>调用大语言模型自动整合核算与对标结果，生成图文并茂的碳评估分析报告，输出针对性的减排优化建议。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0807700" y="5791200"/>
            <a:ext cx="10668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400">
                <a:solidFill>
                  <a:srgbClr val="000000">
                    <a:alpha val="49804"/>
                  </a:srgbClr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AI+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406400" y="3746500"/>
            <a:ext cx="1181100" cy="254000"/>
          </a:xfrm>
          <a:prstGeom prst="roundRect">
            <a:avLst/>
          </a:prstGeom>
          <a:solidFill>
            <a:srgbClr val="E1EBF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智能闭环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06400" y="2997200"/>
            <a:ext cx="1181100" cy="254000"/>
          </a:xfrm>
          <a:prstGeom prst="roundRect">
            <a:avLst/>
          </a:prstGeom>
          <a:solidFill>
            <a:srgbClr val="E1EBF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数据清洗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714500" y="2997200"/>
            <a:ext cx="1181100" cy="254000"/>
          </a:xfrm>
          <a:prstGeom prst="roundRect">
            <a:avLst/>
          </a:prstGeom>
          <a:solidFill>
            <a:srgbClr val="E1EBF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精准核算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406400" y="3378200"/>
            <a:ext cx="1181100" cy="254000"/>
          </a:xfrm>
          <a:prstGeom prst="roundRect">
            <a:avLst/>
          </a:prstGeom>
          <a:solidFill>
            <a:srgbClr val="E1EBF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行业对标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714500" y="3378200"/>
            <a:ext cx="1181100" cy="254000"/>
          </a:xfrm>
          <a:prstGeom prst="roundRect">
            <a:avLst/>
          </a:prstGeom>
          <a:solidFill>
            <a:srgbClr val="E1EBF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自动报告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11264900" y="330200"/>
            <a:ext cx="762000" cy="19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智能碳管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406400" y="317500"/>
            <a:ext cx="762000" cy="19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AI方案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1130300" y="317500"/>
            <a:ext cx="762000" cy="19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绿色智造</a:t>
            </a:r>
            <a:endParaRPr lang="en-US" sz="1100"/>
          </a:p>
        </p:txBody>
      </p:sp>
      <p:cxnSp>
        <p:nvCxnSpPr>
          <p:cNvPr name="Connector 26" id="26"/>
          <p:cNvCxnSpPr/>
          <p:nvPr/>
        </p:nvCxnSpPr>
        <p:spPr>
          <a:xfrm rot="5019588" flipH="false" flipV="false">
            <a:off x="971550" y="419452"/>
            <a:ext cx="1143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5C7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5400000" flipH="false" flipV="false">
            <a:off x="965200" y="1727200"/>
            <a:ext cx="4152900" cy="6096000"/>
          </a:xfrm>
          <a:prstGeom prst="roundRect">
            <a:avLst>
              <a:gd name="adj" fmla="val 0"/>
            </a:avLst>
          </a:prstGeom>
          <a:solidFill>
            <a:srgbClr val="020E5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431800" y="381000"/>
            <a:ext cx="16637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技术优化实践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3136900" y="1435100"/>
            <a:ext cx="20828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自动化构建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rcRect l="6921" r="4295" t="3397" b="3821"/>
          <a:stretch>
            <a:fillRect/>
          </a:stretch>
        </p:blipFill>
        <p:spPr>
          <a:xfrm rot="0" flipH="false" flipV="false">
            <a:off x="6972300" y="1016000"/>
            <a:ext cx="4724400" cy="55499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</p:pic>
      <p:cxnSp>
        <p:nvCxnSpPr>
          <p:cNvPr name="Connector 6" id="6"/>
          <p:cNvCxnSpPr/>
          <p:nvPr/>
        </p:nvCxnSpPr>
        <p:spPr>
          <a:xfrm rot="5393692" flipH="false" flipV="false">
            <a:off x="2635250" y="3454406"/>
            <a:ext cx="6921500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mpd="sng" cap="flat">
            <a:solidFill>
              <a:srgbClr val="000000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431800" y="685800"/>
            <a:ext cx="47244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Autofit/>
          </a:bodyPr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1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通过四大核心技术手段重构代码逻辑，实现系统轻量化、开发高效化与维护便捷化，打造高可用的技术底座。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438900" y="381000"/>
            <a:ext cx="10668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方案版本</a:t>
            </a:r>
            <a:r>
              <a:rPr lang="en-US" b="fals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V1.0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31800" y="3467100"/>
            <a:ext cx="5118100" cy="7239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4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代码简化方案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-8050" flipH="false" flipV="false">
            <a:off x="431807" y="4375150"/>
            <a:ext cx="5422900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mpd="sng" cap="flat">
            <a:solidFill>
              <a:srgbClr val="FFF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11" id="11"/>
          <p:cNvCxnSpPr/>
          <p:nvPr/>
        </p:nvCxnSpPr>
        <p:spPr>
          <a:xfrm rot="-8050" flipH="false" flipV="false">
            <a:off x="431807" y="4692650"/>
            <a:ext cx="5422900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mpd="sng" cap="flat">
            <a:solidFill>
              <a:srgbClr val="FFF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12" id="12"/>
          <p:cNvCxnSpPr/>
          <p:nvPr/>
        </p:nvCxnSpPr>
        <p:spPr>
          <a:xfrm rot="-8050" flipH="false" flipV="false">
            <a:off x="431807" y="4997450"/>
            <a:ext cx="5422900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mpd="sng" cap="flat">
            <a:solidFill>
              <a:srgbClr val="FFF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13" id="13"/>
          <p:cNvCxnSpPr/>
          <p:nvPr/>
        </p:nvCxnSpPr>
        <p:spPr>
          <a:xfrm rot="-8050" flipH="false" flipV="false">
            <a:off x="431807" y="5302250"/>
            <a:ext cx="5422900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mpd="sng" cap="flat">
            <a:solidFill>
              <a:srgbClr val="FFF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14" id="14"/>
          <p:cNvCxnSpPr/>
          <p:nvPr/>
        </p:nvCxnSpPr>
        <p:spPr>
          <a:xfrm rot="-8050" flipH="false" flipV="false">
            <a:off x="431807" y="5607050"/>
            <a:ext cx="5422900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mpd="sng" cap="flat">
            <a:solidFill>
              <a:srgbClr val="FFF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15" id="15"/>
          <p:cNvCxnSpPr/>
          <p:nvPr/>
        </p:nvCxnSpPr>
        <p:spPr>
          <a:xfrm rot="-8050" flipH="false" flipV="false">
            <a:off x="431807" y="5924550"/>
            <a:ext cx="5422900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mpd="sng" cap="flat">
            <a:solidFill>
              <a:srgbClr val="FFF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16" id="16"/>
          <p:cNvCxnSpPr/>
          <p:nvPr/>
        </p:nvCxnSpPr>
        <p:spPr>
          <a:xfrm rot="-8050" flipH="false" flipV="false">
            <a:off x="431807" y="6229350"/>
            <a:ext cx="5422900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mpd="sng" cap="flat">
            <a:solidFill>
              <a:srgbClr val="FFF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17" id="17"/>
          <p:cNvCxnSpPr/>
          <p:nvPr/>
        </p:nvCxnSpPr>
        <p:spPr>
          <a:xfrm rot="-8050" flipH="false" flipV="false">
            <a:off x="431807" y="6534150"/>
            <a:ext cx="5422900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mpd="sng" cap="flat">
            <a:solidFill>
              <a:srgbClr val="FFF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431800" y="4445000"/>
            <a:ext cx="8382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核心库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31800" y="4749800"/>
            <a:ext cx="8382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模板化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689100" y="4432300"/>
            <a:ext cx="279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Pandas统一数据处理，代码简洁高效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431800" y="5054600"/>
            <a:ext cx="8382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API调用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431800" y="5372100"/>
            <a:ext cx="8382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AI生成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431800" y="5676900"/>
            <a:ext cx="8382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维护性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431800" y="5981700"/>
            <a:ext cx="8382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兼容性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431800" y="6299200"/>
            <a:ext cx="8382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总成本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1689100" y="4749800"/>
            <a:ext cx="279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Jinja2动态渲染，告别重复编码工作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1689100" y="5054600"/>
            <a:ext cx="279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标准SDK封装，提示词固化，调用稳定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1689100" y="5372100"/>
            <a:ext cx="279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AI自动生成代码，人工仅校验核心逻辑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1689100" y="5676900"/>
            <a:ext cx="279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结构清晰规范，降低后续迭代与维护成本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1689100" y="5981700"/>
            <a:ext cx="279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适配主流开发与运行环境，部署零阻碍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1689100" y="6299200"/>
            <a:ext cx="279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开发运维成本大幅降低，资源利用率提升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5054600" y="4445000"/>
            <a:ext cx="1016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效率+30%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5054600" y="4749800"/>
            <a:ext cx="1016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复用率90%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5054600" y="5054600"/>
            <a:ext cx="1016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稳定度99%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5054600" y="5372100"/>
            <a:ext cx="1016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提效50%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5054600" y="5676900"/>
            <a:ext cx="1016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易维护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5054600" y="5981700"/>
            <a:ext cx="1016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全兼容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5054600" y="6299200"/>
            <a:ext cx="1016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降本25%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3136900" y="1727200"/>
            <a:ext cx="2548638" cy="71755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0"/>
          </a:bodyPr>
          <a:lstStyle/>
          <a:p>
            <a:pPr algn="l">
              <a:lnSpc>
                <a:spcPct val="125000"/>
              </a:lnSpc>
              <a:defRPr/>
            </a:pPr>
            <a:r>
              <a:rPr lang="en-US" b="false" i="false" strike="noStrike" u="none" sz="1235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引入AI辅助编码与模板引擎，将重复编码工作自动化，释放人力聚焦核心业务逻辑与体验优化。</a:t>
            </a:r>
            <a:endParaRPr lang="en-US" sz="1100"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431800" y="1435100"/>
            <a:ext cx="16637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轻量化架构</a:t>
            </a:r>
            <a:endParaRPr lang="en-US" sz="1100"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431800" y="1727200"/>
            <a:ext cx="2082800" cy="5969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Autofit/>
          </a:bodyPr>
          <a:lstStyle/>
          <a:p>
            <a:pPr algn="l">
              <a:lnSpc>
                <a:spcPct val="125000"/>
              </a:lnSpc>
              <a:defRPr/>
            </a:pPr>
            <a:r>
              <a:rPr lang="en-US" b="false" i="false" strike="noStrike" u="none" sz="1143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基于Python生态精选核心库，剔除冗余依赖与无效代码，实现系统低负载、高响应的轻量化运行特性。</a:t>
            </a:r>
            <a:endParaRPr lang="en-US" sz="1100"/>
          </a:p>
        </p:txBody>
      </p:sp>
      <p:cxnSp>
        <p:nvCxnSpPr>
          <p:cNvPr name="Connector 42" id="42"/>
          <p:cNvCxnSpPr/>
          <p:nvPr/>
        </p:nvCxnSpPr>
        <p:spPr>
          <a:xfrm rot="5331254" flipH="false" flipV="false">
            <a:off x="2463800" y="1784413"/>
            <a:ext cx="635000" cy="12700"/>
          </a:xfrm>
          <a:prstGeom prst="straightConnector1">
            <a:avLst/>
          </a:prstGeom>
          <a:solidFill>
            <a:srgbClr val="DEE0E3">
              <a:alpha val="18000"/>
            </a:srgbClr>
          </a:solidFill>
          <a:ln w="12700" cmpd="sng" cap="flat">
            <a:solidFill>
              <a:srgbClr val="000000">
                <a:alpha val="1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5400000" flipH="false" flipV="true">
            <a:off x="2654300" y="-2679700"/>
            <a:ext cx="6921500" cy="122555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141412">
                  <a:alpha val="100000"/>
                </a:srgbClr>
              </a:gs>
              <a:gs pos="53000">
                <a:srgbClr val="131518">
                  <a:alpha val="100000"/>
                </a:srgbClr>
              </a:gs>
              <a:gs pos="78000">
                <a:srgbClr val="111734">
                  <a:alpha val="100000"/>
                </a:srgbClr>
              </a:gs>
              <a:gs pos="90000">
                <a:srgbClr val="0F1E51">
                  <a:alpha val="100000"/>
                </a:srgbClr>
              </a:gs>
              <a:gs pos="100000">
                <a:srgbClr val="031968">
                  <a:alpha val="10000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406400" y="1270000"/>
            <a:ext cx="5384800" cy="16637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6700">
                <a:solidFill>
                  <a:srgbClr val="FFFFFF"/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落地可行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0" flipH="false" flipV="false">
            <a:off x="-457200" y="7607300"/>
            <a:ext cx="13855706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EE0E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406400" y="4927600"/>
            <a:ext cx="4851400" cy="1320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本项目在技术、数据与调研维度均无核心实施壁垒，依托成熟技术栈与低成本数据获取方式，可快速启动验证。调研环节借助既有资源网络，能高效完成企业访谈，为项目推进提供充分的可行性支撑与落地保障。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791200" y="2159000"/>
            <a:ext cx="29972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项目实施基础保障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3849" flipH="false" flipV="false">
            <a:off x="406404" y="3422650"/>
            <a:ext cx="11341100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mpd="sng" cap="flat">
            <a:solidFill>
              <a:srgbClr val="FFF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8" id="8"/>
          <p:cNvCxnSpPr/>
          <p:nvPr/>
        </p:nvCxnSpPr>
        <p:spPr>
          <a:xfrm rot="5385676" flipH="false" flipV="false">
            <a:off x="4114800" y="4946663"/>
            <a:ext cx="3048000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mpd="sng" cap="flat">
            <a:solidFill>
              <a:srgbClr val="FFF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6007100" y="4622800"/>
            <a:ext cx="1841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技术支撑：</a:t>
            </a: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全流程成熟开源库覆盖，AI编程工具大幅压缩开发周期，无底层技术攻坚壁垒，半天内可完成核心编码。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007100" y="3733800"/>
            <a:ext cx="5384800" cy="8763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7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实施路径清晰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039100" y="4622800"/>
            <a:ext cx="1841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数据获取：</a:t>
            </a: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仅需单园区用电数据即可启动，支持模拟数据验证流程，无数据合规风险，获取门槛低且成本可控。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083800" y="4622800"/>
            <a:ext cx="1841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调研访谈：</a:t>
            </a: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依托校友与导师资源网络，线上访谈高效推进，预计1周内可完成2家目标企业深度调研，快速获取需求。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2832100" y="6350000"/>
            <a:ext cx="72517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结论：项目在技术、数据、调研三大关键环节均具备快速落地的条件，无明显阻碍因素。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06400" y="3733800"/>
            <a:ext cx="2997200" cy="8763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7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多维可行性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06400" y="330200"/>
            <a:ext cx="762000" cy="2667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项目背景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270000" y="330200"/>
            <a:ext cx="762000" cy="2667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可行性分析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1176000" y="330200"/>
            <a:ext cx="762000" cy="19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方案评估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5019588" flipH="false" flipV="false">
            <a:off x="1149350" y="419452"/>
            <a:ext cx="1143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5C7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406400" y="1041400"/>
            <a:ext cx="3708400" cy="2413000"/>
          </a:xfrm>
          <a:prstGeom prst="roundRect">
            <a:avLst>
              <a:gd name="adj" fmla="val 2631"/>
            </a:avLst>
          </a:prstGeom>
          <a:solidFill>
            <a:srgbClr val="DEE0E3">
              <a:alpha val="49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4241800" y="1041400"/>
            <a:ext cx="3708400" cy="2413000"/>
          </a:xfrm>
          <a:prstGeom prst="roundRect">
            <a:avLst>
              <a:gd name="adj" fmla="val 2631"/>
            </a:avLst>
          </a:prstGeom>
          <a:solidFill>
            <a:srgbClr val="DEE0E3">
              <a:alpha val="49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8064500" y="1041400"/>
            <a:ext cx="3708400" cy="2413000"/>
          </a:xfrm>
          <a:prstGeom prst="roundRect">
            <a:avLst>
              <a:gd name="adj" fmla="val 2631"/>
            </a:avLst>
          </a:prstGeom>
          <a:solidFill>
            <a:srgbClr val="DEE0E3">
              <a:alpha val="49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cxnSp>
        <p:nvCxnSpPr>
          <p:cNvPr name="Connector 5" id="5"/>
          <p:cNvCxnSpPr/>
          <p:nvPr/>
        </p:nvCxnSpPr>
        <p:spPr>
          <a:xfrm rot="-13171" flipH="false" flipV="false">
            <a:off x="635012" y="1593850"/>
            <a:ext cx="3314700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mpd="sng" cap="flat">
            <a:solidFill>
              <a:srgbClr val="2B2F36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647700" y="1244600"/>
            <a:ext cx="330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01 极致轻量化架构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47700" y="1739900"/>
            <a:ext cx="330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填补中小园区低成本自评工具的市场空白，无需复杂部署与高昂硬件投入，打破传统方案的高门槛限制。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803400" y="2286000"/>
            <a:ext cx="21336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true" i="false" strike="noStrike" u="none" sz="4400">
                <a:solidFill>
                  <a:srgbClr val="2563EB"/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低成本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2413000" y="3035300"/>
            <a:ext cx="152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Autofit/>
          </a:bodyPr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普惠型园区首选方案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-13222" flipH="false" flipV="false">
            <a:off x="4432312" y="1593850"/>
            <a:ext cx="3302000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mpd="sng" cap="flat">
            <a:solidFill>
              <a:srgbClr val="2B2F36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4432300" y="1244600"/>
            <a:ext cx="330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02 AI Agent 智能提效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432300" y="1739900"/>
            <a:ext cx="330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20000"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将传统需数天的人工数据整理与评估工作，通过智能Agent压缩至10分钟内，维护成本几乎为零。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600700" y="2286000"/>
            <a:ext cx="21336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true" i="false" strike="noStrike" u="none" sz="4400">
                <a:solidFill>
                  <a:srgbClr val="2563EB"/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10min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223000" y="3035300"/>
            <a:ext cx="152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0"/>
          </a:bodyPr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人工效率提升百倍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-13222" flipH="false" flipV="false">
            <a:off x="8267712" y="1606550"/>
            <a:ext cx="3302000" cy="12700"/>
          </a:xfrm>
          <a:prstGeom prst="straightConnector1">
            <a:avLst/>
          </a:prstGeom>
          <a:solidFill>
            <a:srgbClr val="DEE0E3">
              <a:alpha val="50000"/>
            </a:srgbClr>
          </a:solidFill>
          <a:ln w="12700" cmpd="sng" cap="flat">
            <a:solidFill>
              <a:srgbClr val="2B2F36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8267700" y="1244600"/>
            <a:ext cx="330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03 真实需求闭环验证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267700" y="1739900"/>
            <a:ext cx="330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20000"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基于30+场园区运营者与行业专家深度访谈，反向修正产品迭代方向，拒绝闭门造车，精准匹配业务。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851900" y="2286000"/>
            <a:ext cx="27051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true" i="false" strike="noStrike" u="none" sz="4400">
                <a:solidFill>
                  <a:srgbClr val="2563EB"/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0偏差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0033000" y="3035300"/>
            <a:ext cx="152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0"/>
          </a:bodyPr>
          <a:lstStyle/>
          <a:p>
            <a:pPr algn="r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贴合真实业务场景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406400" y="3530600"/>
            <a:ext cx="11366500" cy="2603500"/>
          </a:xfrm>
          <a:prstGeom prst="roundRect">
            <a:avLst>
              <a:gd name="adj" fmla="val 2439"/>
            </a:avLst>
          </a:prstGeom>
          <a:gradFill rotWithShape="true">
            <a:gsLst>
              <a:gs pos="0">
                <a:srgbClr val="141412">
                  <a:alpha val="100000"/>
                </a:srgbClr>
              </a:gs>
              <a:gs pos="51000">
                <a:srgbClr val="121520">
                  <a:alpha val="100000"/>
                </a:srgbClr>
              </a:gs>
              <a:gs pos="69000">
                <a:srgbClr val="0F1639">
                  <a:alpha val="100000"/>
                </a:srgbClr>
              </a:gs>
              <a:gs pos="79000">
                <a:srgbClr val="0C1751">
                  <a:alpha val="100000"/>
                </a:srgbClr>
              </a:gs>
              <a:gs pos="100000">
                <a:srgbClr val="06187B">
                  <a:alpha val="10000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47700" y="3759200"/>
            <a:ext cx="10160000" cy="3429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三大创新构建园区评估新范式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47700" y="41275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本项目通过“轻量化架构”降低了中小园区的使用门槛，解决了市场上高端方案昂贵、低端方案缺失的现状；利用“AI Agent技术”重构了评估流程的效率基准，将耗时从工作日级压缩至分钟级；通过“需求闭环机制”确保产品始终锚定真实业务痛点，避免技术与场景脱节，形成了兼具普惠性、高效性与落地性的行业领先方案。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1600200" y="5257800"/>
            <a:ext cx="101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93C5FD"/>
                </a:solidFill>
                <a:latin typeface="Noto Sans SC"/>
                <a:ea typeface="Noto Sans SC"/>
                <a:cs typeface="Noto Sans SC"/>
                <a:sym typeface="Noto Sans SC"/>
              </a:rPr>
              <a:t>80%+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4432300" y="4787900"/>
            <a:ext cx="101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93C5FD"/>
                </a:solidFill>
                <a:latin typeface="Noto Sans SC"/>
                <a:ea typeface="Noto Sans SC"/>
                <a:cs typeface="Noto Sans SC"/>
                <a:sym typeface="Noto Sans SC"/>
              </a:rPr>
              <a:t>95%+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175500" y="4559300"/>
            <a:ext cx="101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93C5FD"/>
                </a:solidFill>
                <a:latin typeface="Noto Sans SC"/>
                <a:ea typeface="Noto Sans SC"/>
                <a:cs typeface="Noto Sans SC"/>
                <a:sym typeface="Noto Sans SC"/>
              </a:rPr>
              <a:t>100%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10477500" y="4305300"/>
            <a:ext cx="101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>
            <a:normAutofit fontScale="100000" lnSpcReduction="0"/>
          </a:bodyPr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93C5FD"/>
                </a:solidFill>
                <a:latin typeface="Noto Sans SC"/>
                <a:ea typeface="Noto Sans SC"/>
                <a:cs typeface="Noto Sans SC"/>
                <a:sym typeface="Noto Sans SC"/>
              </a:rPr>
              <a:t>0门槛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11264900" y="330200"/>
            <a:ext cx="762000" cy="19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创新方案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406400" y="317500"/>
            <a:ext cx="762000" cy="19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核心优势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1130300" y="317500"/>
            <a:ext cx="762000" cy="19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价值亮点</a:t>
            </a:r>
            <a:endParaRPr lang="en-US" sz="1100"/>
          </a:p>
        </p:txBody>
      </p:sp>
      <p:cxnSp>
        <p:nvCxnSpPr>
          <p:cNvPr name="Connector 30" id="30"/>
          <p:cNvCxnSpPr/>
          <p:nvPr/>
        </p:nvCxnSpPr>
        <p:spPr>
          <a:xfrm rot="-16687" flipH="false" flipV="false">
            <a:off x="647715" y="5505450"/>
            <a:ext cx="2616200" cy="12700"/>
          </a:xfrm>
          <a:prstGeom prst="straightConnector1">
            <a:avLst/>
          </a:prstGeom>
          <a:solidFill>
            <a:srgbClr val="DEE0E3">
              <a:alpha val="35000"/>
            </a:srgbClr>
          </a:solidFill>
          <a:ln w="25400" cmpd="sng" cap="flat">
            <a:solidFill>
              <a:srgbClr val="FFFFFF">
                <a:alpha val="35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31" id="31"/>
          <p:cNvCxnSpPr/>
          <p:nvPr/>
        </p:nvCxnSpPr>
        <p:spPr>
          <a:xfrm rot="-16687" flipH="false" flipV="false">
            <a:off x="647715" y="5632450"/>
            <a:ext cx="2616200" cy="12700"/>
          </a:xfrm>
          <a:prstGeom prst="straightConnector1">
            <a:avLst/>
          </a:prstGeom>
          <a:solidFill>
            <a:srgbClr val="DEE0E3">
              <a:alpha val="35000"/>
            </a:srgbClr>
          </a:solidFill>
          <a:ln w="25400" cmpd="sng" cap="flat">
            <a:solidFill>
              <a:srgbClr val="FFFFFF">
                <a:alpha val="35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32" id="32"/>
          <p:cNvCxnSpPr/>
          <p:nvPr/>
        </p:nvCxnSpPr>
        <p:spPr>
          <a:xfrm rot="-16687" flipH="false" flipV="false">
            <a:off x="647715" y="5848350"/>
            <a:ext cx="2616200" cy="12700"/>
          </a:xfrm>
          <a:prstGeom prst="straightConnector1">
            <a:avLst/>
          </a:prstGeom>
          <a:solidFill>
            <a:srgbClr val="DEE0E3">
              <a:alpha val="35000"/>
            </a:srgbClr>
          </a:solidFill>
          <a:ln w="25400" cmpd="sng" cap="flat">
            <a:solidFill>
              <a:srgbClr val="FFFFFF">
                <a:alpha val="35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33" id="33"/>
          <p:cNvCxnSpPr/>
          <p:nvPr/>
        </p:nvCxnSpPr>
        <p:spPr>
          <a:xfrm rot="-16687" flipH="false" flipV="false">
            <a:off x="647715" y="5734050"/>
            <a:ext cx="2616200" cy="12700"/>
          </a:xfrm>
          <a:prstGeom prst="straightConnector1">
            <a:avLst/>
          </a:prstGeom>
          <a:solidFill>
            <a:srgbClr val="DEE0E3">
              <a:alpha val="35000"/>
            </a:srgbClr>
          </a:solidFill>
          <a:ln w="25400" cmpd="sng" cap="flat">
            <a:solidFill>
              <a:srgbClr val="FFFFFF">
                <a:alpha val="35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34" id="34"/>
          <p:cNvCxnSpPr/>
          <p:nvPr/>
        </p:nvCxnSpPr>
        <p:spPr>
          <a:xfrm rot="-16769" flipH="false" flipV="false">
            <a:off x="8851915" y="5289550"/>
            <a:ext cx="2603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FF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35" id="35"/>
          <p:cNvCxnSpPr/>
          <p:nvPr/>
        </p:nvCxnSpPr>
        <p:spPr>
          <a:xfrm rot="-16769" flipH="false" flipV="false">
            <a:off x="8851915" y="5403850"/>
            <a:ext cx="2603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FF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36" id="36"/>
          <p:cNvCxnSpPr/>
          <p:nvPr/>
        </p:nvCxnSpPr>
        <p:spPr>
          <a:xfrm rot="-16769" flipH="false" flipV="false">
            <a:off x="8851915" y="5632450"/>
            <a:ext cx="2603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FF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37" id="37"/>
          <p:cNvCxnSpPr/>
          <p:nvPr/>
        </p:nvCxnSpPr>
        <p:spPr>
          <a:xfrm rot="-16769" flipH="false" flipV="false">
            <a:off x="8851915" y="5518150"/>
            <a:ext cx="2603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FF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38" id="38"/>
          <p:cNvCxnSpPr/>
          <p:nvPr/>
        </p:nvCxnSpPr>
        <p:spPr>
          <a:xfrm rot="-16769" flipH="false" flipV="false">
            <a:off x="8851915" y="4832350"/>
            <a:ext cx="2603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FF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39" id="39"/>
          <p:cNvCxnSpPr/>
          <p:nvPr/>
        </p:nvCxnSpPr>
        <p:spPr>
          <a:xfrm rot="-16769" flipH="false" flipV="false">
            <a:off x="8851915" y="4959350"/>
            <a:ext cx="2603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FF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40" id="40"/>
          <p:cNvCxnSpPr/>
          <p:nvPr/>
        </p:nvCxnSpPr>
        <p:spPr>
          <a:xfrm rot="-16769" flipH="false" flipV="false">
            <a:off x="8851915" y="5175250"/>
            <a:ext cx="2603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FF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41" id="41"/>
          <p:cNvCxnSpPr/>
          <p:nvPr/>
        </p:nvCxnSpPr>
        <p:spPr>
          <a:xfrm rot="-16769" flipH="false" flipV="false">
            <a:off x="8851915" y="5060950"/>
            <a:ext cx="2603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FF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42" id="42"/>
          <p:cNvCxnSpPr/>
          <p:nvPr/>
        </p:nvCxnSpPr>
        <p:spPr>
          <a:xfrm rot="-16769" flipH="false" flipV="false">
            <a:off x="8851915" y="4718050"/>
            <a:ext cx="2603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FF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43" id="43"/>
          <p:cNvCxnSpPr/>
          <p:nvPr/>
        </p:nvCxnSpPr>
        <p:spPr>
          <a:xfrm rot="-16769" flipH="false" flipV="false">
            <a:off x="8851915" y="4603750"/>
            <a:ext cx="2603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FF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44" id="44"/>
          <p:cNvCxnSpPr/>
          <p:nvPr/>
        </p:nvCxnSpPr>
        <p:spPr>
          <a:xfrm rot="-16769" flipH="false" flipV="false">
            <a:off x="8851915" y="5734050"/>
            <a:ext cx="2603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FF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45" id="45"/>
          <p:cNvCxnSpPr/>
          <p:nvPr/>
        </p:nvCxnSpPr>
        <p:spPr>
          <a:xfrm rot="-16769" flipH="false" flipV="false">
            <a:off x="8851915" y="5848350"/>
            <a:ext cx="2603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FF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46" id="46"/>
          <p:cNvCxnSpPr/>
          <p:nvPr/>
        </p:nvCxnSpPr>
        <p:spPr>
          <a:xfrm rot="-16687" flipH="false" flipV="false">
            <a:off x="6108715" y="5505450"/>
            <a:ext cx="2616200" cy="12700"/>
          </a:xfrm>
          <a:prstGeom prst="straightConnector1">
            <a:avLst/>
          </a:prstGeom>
          <a:solidFill>
            <a:srgbClr val="DEE0E3">
              <a:alpha val="75000"/>
            </a:srgbClr>
          </a:solidFill>
          <a:ln w="25400" cmpd="sng" cap="flat">
            <a:solidFill>
              <a:srgbClr val="FFFFFF">
                <a:alpha val="75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47" id="47"/>
          <p:cNvCxnSpPr/>
          <p:nvPr/>
        </p:nvCxnSpPr>
        <p:spPr>
          <a:xfrm rot="-16687" flipH="false" flipV="false">
            <a:off x="6108715" y="5619750"/>
            <a:ext cx="2616200" cy="12700"/>
          </a:xfrm>
          <a:prstGeom prst="straightConnector1">
            <a:avLst/>
          </a:prstGeom>
          <a:solidFill>
            <a:srgbClr val="DEE0E3">
              <a:alpha val="75000"/>
            </a:srgbClr>
          </a:solidFill>
          <a:ln w="25400" cmpd="sng" cap="flat">
            <a:solidFill>
              <a:srgbClr val="FFFFFF">
                <a:alpha val="75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48" id="48"/>
          <p:cNvCxnSpPr/>
          <p:nvPr/>
        </p:nvCxnSpPr>
        <p:spPr>
          <a:xfrm rot="-16687" flipH="false" flipV="false">
            <a:off x="6108715" y="5848350"/>
            <a:ext cx="2616200" cy="12700"/>
          </a:xfrm>
          <a:prstGeom prst="straightConnector1">
            <a:avLst/>
          </a:prstGeom>
          <a:solidFill>
            <a:srgbClr val="DEE0E3">
              <a:alpha val="75000"/>
            </a:srgbClr>
          </a:solidFill>
          <a:ln w="25400" cmpd="sng" cap="flat">
            <a:solidFill>
              <a:srgbClr val="FFFFFF">
                <a:alpha val="75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49" id="49"/>
          <p:cNvCxnSpPr/>
          <p:nvPr/>
        </p:nvCxnSpPr>
        <p:spPr>
          <a:xfrm rot="-16687" flipH="false" flipV="false">
            <a:off x="6108715" y="5734050"/>
            <a:ext cx="2616200" cy="12700"/>
          </a:xfrm>
          <a:prstGeom prst="straightConnector1">
            <a:avLst/>
          </a:prstGeom>
          <a:solidFill>
            <a:srgbClr val="DEE0E3">
              <a:alpha val="75000"/>
            </a:srgbClr>
          </a:solidFill>
          <a:ln w="25400" cmpd="sng" cap="flat">
            <a:solidFill>
              <a:srgbClr val="FFFFFF">
                <a:alpha val="75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50" id="50"/>
          <p:cNvCxnSpPr/>
          <p:nvPr/>
        </p:nvCxnSpPr>
        <p:spPr>
          <a:xfrm rot="-16687" flipH="false" flipV="false">
            <a:off x="6108715" y="5048250"/>
            <a:ext cx="2616200" cy="12700"/>
          </a:xfrm>
          <a:prstGeom prst="straightConnector1">
            <a:avLst/>
          </a:prstGeom>
          <a:solidFill>
            <a:srgbClr val="DEE0E3">
              <a:alpha val="75000"/>
            </a:srgbClr>
          </a:solidFill>
          <a:ln w="25400" cmpd="sng" cap="flat">
            <a:solidFill>
              <a:srgbClr val="FFFFFF">
                <a:alpha val="75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51" id="51"/>
          <p:cNvCxnSpPr/>
          <p:nvPr/>
        </p:nvCxnSpPr>
        <p:spPr>
          <a:xfrm rot="-16687" flipH="false" flipV="false">
            <a:off x="6108715" y="5175250"/>
            <a:ext cx="2616200" cy="12700"/>
          </a:xfrm>
          <a:prstGeom prst="straightConnector1">
            <a:avLst/>
          </a:prstGeom>
          <a:solidFill>
            <a:srgbClr val="DEE0E3">
              <a:alpha val="75000"/>
            </a:srgbClr>
          </a:solidFill>
          <a:ln w="25400" cmpd="sng" cap="flat">
            <a:solidFill>
              <a:srgbClr val="FFFFFF">
                <a:alpha val="75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52" id="52"/>
          <p:cNvCxnSpPr/>
          <p:nvPr/>
        </p:nvCxnSpPr>
        <p:spPr>
          <a:xfrm rot="-16687" flipH="false" flipV="false">
            <a:off x="6108715" y="5391150"/>
            <a:ext cx="2616200" cy="12700"/>
          </a:xfrm>
          <a:prstGeom prst="straightConnector1">
            <a:avLst/>
          </a:prstGeom>
          <a:solidFill>
            <a:srgbClr val="DEE0E3">
              <a:alpha val="75000"/>
            </a:srgbClr>
          </a:solidFill>
          <a:ln w="25400" cmpd="sng" cap="flat">
            <a:solidFill>
              <a:srgbClr val="FFFFFF">
                <a:alpha val="75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53" id="53"/>
          <p:cNvCxnSpPr/>
          <p:nvPr/>
        </p:nvCxnSpPr>
        <p:spPr>
          <a:xfrm rot="-16687" flipH="false" flipV="false">
            <a:off x="6108715" y="5276850"/>
            <a:ext cx="2616200" cy="12700"/>
          </a:xfrm>
          <a:prstGeom prst="straightConnector1">
            <a:avLst/>
          </a:prstGeom>
          <a:solidFill>
            <a:srgbClr val="DEE0E3">
              <a:alpha val="75000"/>
            </a:srgbClr>
          </a:solidFill>
          <a:ln w="25400" cmpd="sng" cap="flat">
            <a:solidFill>
              <a:srgbClr val="FFFFFF">
                <a:alpha val="75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54" id="54"/>
          <p:cNvCxnSpPr/>
          <p:nvPr/>
        </p:nvCxnSpPr>
        <p:spPr>
          <a:xfrm rot="-16687" flipH="false" flipV="false">
            <a:off x="6108715" y="4933950"/>
            <a:ext cx="2616200" cy="12700"/>
          </a:xfrm>
          <a:prstGeom prst="straightConnector1">
            <a:avLst/>
          </a:prstGeom>
          <a:solidFill>
            <a:srgbClr val="DEE0E3">
              <a:alpha val="75000"/>
            </a:srgbClr>
          </a:solidFill>
          <a:ln w="25400" cmpd="sng" cap="flat">
            <a:solidFill>
              <a:srgbClr val="FFFFFF">
                <a:alpha val="75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55" id="55"/>
          <p:cNvCxnSpPr/>
          <p:nvPr/>
        </p:nvCxnSpPr>
        <p:spPr>
          <a:xfrm rot="-16687" flipH="false" flipV="false">
            <a:off x="6108715" y="4819650"/>
            <a:ext cx="2616200" cy="12700"/>
          </a:xfrm>
          <a:prstGeom prst="straightConnector1">
            <a:avLst/>
          </a:prstGeom>
          <a:solidFill>
            <a:srgbClr val="DEE0E3">
              <a:alpha val="75000"/>
            </a:srgbClr>
          </a:solidFill>
          <a:ln w="25400" cmpd="sng" cap="flat">
            <a:solidFill>
              <a:srgbClr val="FFFFFF">
                <a:alpha val="75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56" id="56"/>
          <p:cNvCxnSpPr/>
          <p:nvPr/>
        </p:nvCxnSpPr>
        <p:spPr>
          <a:xfrm rot="-16687" flipH="false" flipV="false">
            <a:off x="3365515" y="5505450"/>
            <a:ext cx="2616200" cy="12700"/>
          </a:xfrm>
          <a:prstGeom prst="straightConnector1">
            <a:avLst/>
          </a:prstGeom>
          <a:solidFill>
            <a:srgbClr val="DEE0E3">
              <a:alpha val="38000"/>
            </a:srgbClr>
          </a:solidFill>
          <a:ln w="25400" cmpd="sng" cap="flat">
            <a:solidFill>
              <a:srgbClr val="FFFFFF">
                <a:alpha val="38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57" id="57"/>
          <p:cNvCxnSpPr/>
          <p:nvPr/>
        </p:nvCxnSpPr>
        <p:spPr>
          <a:xfrm rot="-16687" flipH="false" flipV="false">
            <a:off x="3378215" y="5619750"/>
            <a:ext cx="2616200" cy="12700"/>
          </a:xfrm>
          <a:prstGeom prst="straightConnector1">
            <a:avLst/>
          </a:prstGeom>
          <a:solidFill>
            <a:srgbClr val="DEE0E3">
              <a:alpha val="38000"/>
            </a:srgbClr>
          </a:solidFill>
          <a:ln w="25400" cmpd="sng" cap="flat">
            <a:solidFill>
              <a:srgbClr val="FFFFFF">
                <a:alpha val="38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58" id="58"/>
          <p:cNvCxnSpPr/>
          <p:nvPr/>
        </p:nvCxnSpPr>
        <p:spPr>
          <a:xfrm rot="-16687" flipH="false" flipV="false">
            <a:off x="3378215" y="5848350"/>
            <a:ext cx="2616200" cy="12700"/>
          </a:xfrm>
          <a:prstGeom prst="straightConnector1">
            <a:avLst/>
          </a:prstGeom>
          <a:solidFill>
            <a:srgbClr val="DEE0E3">
              <a:alpha val="38000"/>
            </a:srgbClr>
          </a:solidFill>
          <a:ln w="25400" cmpd="sng" cap="flat">
            <a:solidFill>
              <a:srgbClr val="FFFFFF">
                <a:alpha val="38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59" id="59"/>
          <p:cNvCxnSpPr/>
          <p:nvPr/>
        </p:nvCxnSpPr>
        <p:spPr>
          <a:xfrm rot="-16687" flipH="false" flipV="false">
            <a:off x="3378215" y="5734050"/>
            <a:ext cx="2616200" cy="12700"/>
          </a:xfrm>
          <a:prstGeom prst="straightConnector1">
            <a:avLst/>
          </a:prstGeom>
          <a:solidFill>
            <a:srgbClr val="DEE0E3">
              <a:alpha val="38000"/>
            </a:srgbClr>
          </a:solidFill>
          <a:ln w="25400" cmpd="sng" cap="flat">
            <a:solidFill>
              <a:srgbClr val="FFFFFF">
                <a:alpha val="38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60" id="60"/>
          <p:cNvCxnSpPr/>
          <p:nvPr/>
        </p:nvCxnSpPr>
        <p:spPr>
          <a:xfrm rot="-16687" flipH="false" flipV="false">
            <a:off x="3365515" y="5048250"/>
            <a:ext cx="2616200" cy="12700"/>
          </a:xfrm>
          <a:prstGeom prst="straightConnector1">
            <a:avLst/>
          </a:prstGeom>
          <a:solidFill>
            <a:srgbClr val="DEE0E3">
              <a:alpha val="38000"/>
            </a:srgbClr>
          </a:solidFill>
          <a:ln w="25400" cmpd="sng" cap="flat">
            <a:solidFill>
              <a:srgbClr val="FFFFFF">
                <a:alpha val="38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61" id="61"/>
          <p:cNvCxnSpPr/>
          <p:nvPr/>
        </p:nvCxnSpPr>
        <p:spPr>
          <a:xfrm rot="-16687" flipH="false" flipV="false">
            <a:off x="3378215" y="5162550"/>
            <a:ext cx="2616200" cy="12700"/>
          </a:xfrm>
          <a:prstGeom prst="straightConnector1">
            <a:avLst/>
          </a:prstGeom>
          <a:solidFill>
            <a:srgbClr val="DEE0E3">
              <a:alpha val="38000"/>
            </a:srgbClr>
          </a:solidFill>
          <a:ln w="25400" cmpd="sng" cap="flat">
            <a:solidFill>
              <a:srgbClr val="FFFFFF">
                <a:alpha val="38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62" id="62"/>
          <p:cNvCxnSpPr/>
          <p:nvPr/>
        </p:nvCxnSpPr>
        <p:spPr>
          <a:xfrm rot="-16687" flipH="false" flipV="false">
            <a:off x="3378215" y="5378450"/>
            <a:ext cx="2616200" cy="12700"/>
          </a:xfrm>
          <a:prstGeom prst="straightConnector1">
            <a:avLst/>
          </a:prstGeom>
          <a:solidFill>
            <a:srgbClr val="DEE0E3">
              <a:alpha val="38000"/>
            </a:srgbClr>
          </a:solidFill>
          <a:ln w="25400" cmpd="sng" cap="flat">
            <a:solidFill>
              <a:srgbClr val="FFFFFF">
                <a:alpha val="38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63" id="63"/>
          <p:cNvCxnSpPr/>
          <p:nvPr/>
        </p:nvCxnSpPr>
        <p:spPr>
          <a:xfrm rot="-16687" flipH="false" flipV="false">
            <a:off x="3378215" y="5276850"/>
            <a:ext cx="2616200" cy="12700"/>
          </a:xfrm>
          <a:prstGeom prst="straightConnector1">
            <a:avLst/>
          </a:prstGeom>
          <a:solidFill>
            <a:srgbClr val="DEE0E3">
              <a:alpha val="38000"/>
            </a:srgbClr>
          </a:solidFill>
          <a:ln w="25400" cmpd="sng" cap="flat">
            <a:solidFill>
              <a:srgbClr val="FFFFFF">
                <a:alpha val="38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64" id="64"/>
          <p:cNvCxnSpPr/>
          <p:nvPr/>
        </p:nvCxnSpPr>
        <p:spPr>
          <a:xfrm rot="5019588" flipH="false" flipV="false">
            <a:off x="971550" y="419452"/>
            <a:ext cx="1143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5C7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406400" y="889000"/>
            <a:ext cx="3771900" cy="147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4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实践工作计划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3893" flipH="false" flipV="false">
            <a:off x="533404" y="5099050"/>
            <a:ext cx="11214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B2F3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4" id="4"/>
          <p:cNvCxnSpPr/>
          <p:nvPr/>
        </p:nvCxnSpPr>
        <p:spPr>
          <a:xfrm rot="5367872" flipH="false" flipV="false">
            <a:off x="-146050" y="4419630"/>
            <a:ext cx="13589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B2F3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685800" y="3721100"/>
            <a:ext cx="18161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第 1 周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5367872" flipH="false" flipV="false">
            <a:off x="2470150" y="5753130"/>
            <a:ext cx="13589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B2F3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7" id="7"/>
          <p:cNvCxnSpPr/>
          <p:nvPr/>
        </p:nvCxnSpPr>
        <p:spPr>
          <a:xfrm rot="5367872" flipH="false" flipV="false">
            <a:off x="5391150" y="4432330"/>
            <a:ext cx="13589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B2F3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8" id="8"/>
          <p:cNvCxnSpPr/>
          <p:nvPr/>
        </p:nvCxnSpPr>
        <p:spPr>
          <a:xfrm rot="5367872" flipH="false" flipV="false">
            <a:off x="8096250" y="5765830"/>
            <a:ext cx="13589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B2F3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444500" y="4991100"/>
            <a:ext cx="190500" cy="190500"/>
          </a:xfrm>
          <a:prstGeom prst="ellipse">
            <a:avLst/>
          </a:prstGeom>
          <a:solidFill>
            <a:srgbClr val="00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85800" y="4025900"/>
            <a:ext cx="18161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启动与基础搭建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85800" y="4305300"/>
            <a:ext cx="15748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完成项目数据收集与梳理，搭建开发运行环境，确立技术实施基准与协作规范。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314700" y="5270500"/>
            <a:ext cx="18161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第 2-3 周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314700" y="5575300"/>
            <a:ext cx="18161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核心开发与调研访谈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314700" y="5854700"/>
            <a:ext cx="15748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并行开发数据处理与碳核算模块，开展两轮企业深度访谈，精准对齐业务需求。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223000" y="3746500"/>
            <a:ext cx="18161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第 4 周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223000" y="4051300"/>
            <a:ext cx="18161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集成与成果梳理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223000" y="4330700"/>
            <a:ext cx="15748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集成报告生成模块形成全流程流水线，汇总访谈数据并完成调研总结与分析。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940800" y="5308600"/>
            <a:ext cx="18161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第 5 周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940800" y="5613400"/>
            <a:ext cx="18161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测试与结题验收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940800" y="5892800"/>
            <a:ext cx="15748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开展系统整体功能与性能测试，优化修复问题，筹备结题汇报与成果演示。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175500" y="1447800"/>
            <a:ext cx="45974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本计划围绕碳核算项目实施全周期规划，明确五周执行路径，</a:t>
            </a:r>
            <a:r>
              <a:rPr lang="en-US" b="fals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r" marL="0" indent="0">
              <a:lnSpc>
                <a:spcPct val="125000"/>
              </a:lnSpc>
            </a:pPr>
            <a:r>
              <a:rPr lang="en-US" b="fals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涵盖环境搭建、模块开发、访谈调研及成果验收等关键环节，</a:t>
            </a:r>
            <a:r>
              <a:rPr lang="en-US" b="fals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r" marL="0" indent="0">
              <a:lnSpc>
                <a:spcPct val="125000"/>
              </a:lnSpc>
            </a:pPr>
            <a:r>
              <a:rPr lang="en-US" b="fals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确保项目按节点高效推进并达成预期建设目标。</a:t>
            </a:r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3060700" y="5003800"/>
            <a:ext cx="190500" cy="190500"/>
          </a:xfrm>
          <a:prstGeom prst="ellipse">
            <a:avLst/>
          </a:prstGeom>
          <a:solidFill>
            <a:srgbClr val="00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5969000" y="5003800"/>
            <a:ext cx="190500" cy="190500"/>
          </a:xfrm>
          <a:prstGeom prst="ellipse">
            <a:avLst/>
          </a:prstGeom>
          <a:solidFill>
            <a:srgbClr val="00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686800" y="5003800"/>
            <a:ext cx="190500" cy="190500"/>
          </a:xfrm>
          <a:prstGeom prst="ellipse">
            <a:avLst/>
          </a:prstGeom>
          <a:solidFill>
            <a:srgbClr val="00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11264900" y="330200"/>
            <a:ext cx="571500" cy="19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执行方案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406400" y="317500"/>
            <a:ext cx="571500" cy="19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项目规划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1130300" y="317500"/>
            <a:ext cx="571500" cy="19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碳核算项目</a:t>
            </a:r>
            <a:endParaRPr lang="en-US" sz="1100"/>
          </a:p>
        </p:txBody>
      </p:sp>
      <p:cxnSp>
        <p:nvCxnSpPr>
          <p:cNvPr name="Connector 28" id="28"/>
          <p:cNvCxnSpPr/>
          <p:nvPr/>
        </p:nvCxnSpPr>
        <p:spPr>
          <a:xfrm rot="5019588" flipH="false" flipV="false">
            <a:off x="971550" y="419452"/>
            <a:ext cx="1143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5C7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406400" y="317500"/>
            <a:ext cx="762000" cy="19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项目概况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5019588" flipH="false" flipV="false">
            <a:off x="971550" y="419452"/>
            <a:ext cx="1143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5C7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1130300" y="317500"/>
            <a:ext cx="762000" cy="19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团队架构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1264900" y="330200"/>
            <a:ext cx="762000" cy="19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分工明细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93700" y="647700"/>
            <a:ext cx="762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课题小组成员及分工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31800" y="18796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01 柯谨 · 课题组组长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556000" y="1879600"/>
            <a:ext cx="1714500" cy="304800"/>
          </a:xfrm>
          <a:prstGeom prst="roundRect">
            <a:avLst/>
          </a:prstGeom>
          <a:solidFill>
            <a:srgbClr val="DBEAF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整体方案设计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397500" y="1879600"/>
            <a:ext cx="1714500" cy="304800"/>
          </a:xfrm>
          <a:prstGeom prst="roundRect">
            <a:avLst/>
          </a:prstGeom>
          <a:solidFill>
            <a:srgbClr val="DBEAF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访谈实施与统筹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239000" y="1879600"/>
            <a:ext cx="1714500" cy="304800"/>
          </a:xfrm>
          <a:prstGeom prst="roundRect">
            <a:avLst/>
          </a:prstGeom>
          <a:solidFill>
            <a:srgbClr val="DBEAF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报告撰写与汇报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9080500" y="1879600"/>
            <a:ext cx="1714500" cy="304800"/>
          </a:xfrm>
          <a:prstGeom prst="roundRect">
            <a:avLst/>
          </a:prstGeom>
          <a:solidFill>
            <a:srgbClr val="DBEAF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LLM提示词设计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556000" y="2413000"/>
            <a:ext cx="8001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统筹项目全周期进度与资源协调，主导用户需求深度访谈与调研数据的系统性收集；负责搭建研究报告框架、撰写核心技术文档及最终成果的演示汇报；设计专业化的LLM提示词体系与报告生成模板，把控研究输出的规范性、逻辑性与专业性，确保研究方向与目标一致。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3880" flipH="false" flipV="false">
            <a:off x="431804" y="3486150"/>
            <a:ext cx="11252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431800" y="3683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02 徐青杨 · 技术研发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556000" y="3683000"/>
            <a:ext cx="1714500" cy="304800"/>
          </a:xfrm>
          <a:prstGeom prst="roundRect">
            <a:avLst/>
          </a:prstGeom>
          <a:solidFill>
            <a:srgbClr val="D1FAE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065F46"/>
                </a:solidFill>
                <a:latin typeface="Noto Sans SC"/>
                <a:ea typeface="Noto Sans SC"/>
                <a:cs typeface="Noto Sans SC"/>
                <a:sym typeface="Noto Sans SC"/>
              </a:rPr>
              <a:t>Python脚本开发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5397500" y="3683000"/>
            <a:ext cx="1714500" cy="304800"/>
          </a:xfrm>
          <a:prstGeom prst="roundRect">
            <a:avLst/>
          </a:prstGeom>
          <a:solidFill>
            <a:srgbClr val="D1FAE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065F46"/>
                </a:solidFill>
                <a:latin typeface="Noto Sans SC"/>
                <a:ea typeface="Noto Sans SC"/>
                <a:cs typeface="Noto Sans SC"/>
                <a:sym typeface="Noto Sans SC"/>
              </a:rPr>
              <a:t>Agent流水线搭建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239000" y="3683000"/>
            <a:ext cx="1714500" cy="304800"/>
          </a:xfrm>
          <a:prstGeom prst="roundRect">
            <a:avLst/>
          </a:prstGeom>
          <a:solidFill>
            <a:srgbClr val="D1FAE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065F46"/>
                </a:solidFill>
                <a:latin typeface="Noto Sans SC"/>
                <a:ea typeface="Noto Sans SC"/>
                <a:cs typeface="Noto Sans SC"/>
                <a:sym typeface="Noto Sans SC"/>
              </a:rPr>
              <a:t>AI工具调试优化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9080500" y="3683000"/>
            <a:ext cx="1714500" cy="304800"/>
          </a:xfrm>
          <a:prstGeom prst="roundRect">
            <a:avLst/>
          </a:prstGeom>
          <a:solidFill>
            <a:srgbClr val="D1FAE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065F46"/>
                </a:solidFill>
                <a:latin typeface="Noto Sans SC"/>
                <a:ea typeface="Noto Sans SC"/>
                <a:cs typeface="Noto Sans SC"/>
                <a:sym typeface="Noto Sans SC"/>
              </a:rPr>
              <a:t>示范报告自动化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3556000" y="4216400"/>
            <a:ext cx="8001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借助AI辅助编程工具开发高效自动化脚本，实现调研数据的清洗、处理与任务流自动化执行；搭建并串联Agent智能体流水线，完成工具链的调试、集成与优化；协助整理访谈原始记录，利用技术手段生成标准化的研究示范报告，通过技术赋能提升项目执行效率与成果的智能化呈现水平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431800" y="5524500"/>
            <a:ext cx="5461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协作模式：</a:t>
            </a: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采用“管理统筹+技术落地”的双核协作机制，组长聚焦方向把控与成果输出，技术专员深耕自动化工具与落地执行，形成“规划-执行-优化-产出”的闭环工作流，确保项目既有宏观的战略规划，又有扎实的技术支撑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096000" y="5524500"/>
            <a:ext cx="5461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价值互补：</a:t>
            </a: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两人在能力上形成“规划思维+技术能力”的互补，既保证了研究成果的理论深度与逻辑严谨性，又通过技术手段解决了效率与自动化问题，为项目高质量、高效率完成提供了坚实的团队保障。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393700" y="647700"/>
            <a:ext cx="47498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主要参考文献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406400" y="317500"/>
            <a:ext cx="762000" cy="19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文献综述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5019588" flipH="false" flipV="false">
            <a:off x="971550" y="419452"/>
            <a:ext cx="1143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5C7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130300" y="317500"/>
            <a:ext cx="762000" cy="19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研究支撑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1264900" y="330200"/>
            <a:ext cx="762000" cy="19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参考依据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31800" y="1879600"/>
            <a:ext cx="177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国内标准规范：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31800" y="2324100"/>
            <a:ext cx="177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国内政策文件：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31800" y="2781300"/>
            <a:ext cx="177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园区核算研究：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31800" y="3213100"/>
            <a:ext cx="177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双碳数字治理：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31800" y="3632200"/>
            <a:ext cx="177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国际政策机制：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31800" y="4064000"/>
            <a:ext cx="177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国际技术研究：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31800" y="4533900"/>
            <a:ext cx="177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>
            <a:normAutofit fontScale="100000" lnSpcReduction="0"/>
          </a:bodyPr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行业应用报告：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2336800" y="1892300"/>
            <a:ext cx="1968500" cy="254000"/>
          </a:xfrm>
          <a:prstGeom prst="roundRect">
            <a:avLst/>
          </a:prstGeom>
          <a:solidFill>
            <a:srgbClr val="ECECE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零碳园区碳核算技术规范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381500" y="1892300"/>
            <a:ext cx="1968500" cy="254000"/>
          </a:xfrm>
          <a:prstGeom prst="roundRect">
            <a:avLst/>
          </a:prstGeom>
          <a:solidFill>
            <a:srgbClr val="ECECE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广东电网碳排放因子报告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13500" y="1892300"/>
            <a:ext cx="1968500" cy="254000"/>
          </a:xfrm>
          <a:prstGeom prst="roundRect">
            <a:avLst/>
          </a:prstGeom>
          <a:solidFill>
            <a:srgbClr val="ECECE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行业碳核算通用指南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2336800" y="2336800"/>
            <a:ext cx="1968500" cy="254000"/>
          </a:xfrm>
          <a:prstGeom prst="roundRect">
            <a:avLst/>
          </a:prstGeom>
          <a:solidFill>
            <a:srgbClr val="ECECE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国家级零碳园区试点方案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4381500" y="2336800"/>
            <a:ext cx="1968500" cy="254000"/>
          </a:xfrm>
          <a:prstGeom prst="roundRect">
            <a:avLst/>
          </a:prstGeom>
          <a:solidFill>
            <a:srgbClr val="ECECE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珠三角园区减排策略研究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413500" y="2336800"/>
            <a:ext cx="1968500" cy="254000"/>
          </a:xfrm>
          <a:prstGeom prst="roundRect">
            <a:avLst/>
          </a:prstGeom>
          <a:solidFill>
            <a:srgbClr val="ECECE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地方低碳园区建设导则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2336800" y="2794000"/>
            <a:ext cx="1968500" cy="254000"/>
          </a:xfrm>
          <a:prstGeom prst="roundRect">
            <a:avLst/>
          </a:prstGeom>
          <a:solidFill>
            <a:srgbClr val="ECECE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工业园区碳排放核算体系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4381500" y="2794000"/>
            <a:ext cx="1968500" cy="254000"/>
          </a:xfrm>
          <a:prstGeom prst="roundRect">
            <a:avLst/>
          </a:prstGeom>
          <a:solidFill>
            <a:srgbClr val="ECECE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园区碳排放横向对标方法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413500" y="2794000"/>
            <a:ext cx="1968500" cy="254000"/>
          </a:xfrm>
          <a:prstGeom prst="roundRect">
            <a:avLst/>
          </a:prstGeom>
          <a:solidFill>
            <a:srgbClr val="ECECE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制造业碳足迹量化模型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2336800" y="3225800"/>
            <a:ext cx="1968500" cy="254000"/>
          </a:xfrm>
          <a:prstGeom prst="roundRect">
            <a:avLst/>
          </a:prstGeom>
          <a:solidFill>
            <a:srgbClr val="ECECE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生成式AI双碳治理应用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4381500" y="3225800"/>
            <a:ext cx="1968500" cy="254000"/>
          </a:xfrm>
          <a:prstGeom prst="roundRect">
            <a:avLst/>
          </a:prstGeom>
          <a:solidFill>
            <a:srgbClr val="ECECE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智能体技术赋能碳管理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413500" y="3225800"/>
            <a:ext cx="1968500" cy="254000"/>
          </a:xfrm>
          <a:prstGeom prst="roundRect">
            <a:avLst/>
          </a:prstGeom>
          <a:solidFill>
            <a:srgbClr val="ECECE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电力双碳数字化路径研究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2336800" y="3644900"/>
            <a:ext cx="1968500" cy="254000"/>
          </a:xfrm>
          <a:prstGeom prst="roundRect">
            <a:avLst/>
          </a:prstGeom>
          <a:solidFill>
            <a:srgbClr val="ECECE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欧盟碳边境调节机制指南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4381500" y="3644900"/>
            <a:ext cx="1968500" cy="254000"/>
          </a:xfrm>
          <a:prstGeom prst="roundRect">
            <a:avLst/>
          </a:prstGeom>
          <a:solidFill>
            <a:srgbClr val="ECECE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IEA工业碳核算AI应用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413500" y="3644900"/>
            <a:ext cx="1968500" cy="254000"/>
          </a:xfrm>
          <a:prstGeom prst="roundRect">
            <a:avLst/>
          </a:prstGeom>
          <a:solidFill>
            <a:srgbClr val="ECECE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全球工业园区脱碳路线图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2336800" y="4076700"/>
            <a:ext cx="1968500" cy="254000"/>
          </a:xfrm>
          <a:prstGeom prst="roundRect">
            <a:avLst/>
          </a:prstGeom>
          <a:solidFill>
            <a:srgbClr val="ECECE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园区轻量化碳评估工具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4381500" y="4076700"/>
            <a:ext cx="1968500" cy="254000"/>
          </a:xfrm>
          <a:prstGeom prst="roundRect">
            <a:avLst/>
          </a:prstGeom>
          <a:solidFill>
            <a:srgbClr val="ECECE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AI驱动的碳管理平台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6413500" y="4076700"/>
            <a:ext cx="1968500" cy="254000"/>
          </a:xfrm>
          <a:prstGeom prst="roundRect">
            <a:avLst/>
          </a:prstGeom>
          <a:solidFill>
            <a:srgbClr val="ECECE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数字化碳核算系统验证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2336800" y="4546600"/>
            <a:ext cx="1968500" cy="254000"/>
          </a:xfrm>
          <a:prstGeom prst="roundRect">
            <a:avLst/>
          </a:prstGeom>
          <a:solidFill>
            <a:srgbClr val="ECECE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双碳数字化治理白皮书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4381500" y="4546600"/>
            <a:ext cx="1968500" cy="254000"/>
          </a:xfrm>
          <a:prstGeom prst="roundRect">
            <a:avLst/>
          </a:prstGeom>
          <a:solidFill>
            <a:srgbClr val="ECECE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低碳园区建设实践案例集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6413500" y="4546600"/>
            <a:ext cx="1968500" cy="254000"/>
          </a:xfrm>
          <a:prstGeom prst="roundRect">
            <a:avLst/>
          </a:prstGeom>
          <a:solidFill>
            <a:srgbClr val="ECECE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碳管理平台技术白皮书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431800" y="5664200"/>
            <a:ext cx="5003800" cy="965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本页梳理了研究依托的核心参考文献体系，涵盖国内标准规范、政策文件、学术研究成果，以及国际层面的政策机制与技术报告。这些文献为零碳园区建设、碳核算体系搭建及数字化治理提供了坚实的理论支撑与实践依据，确保研究方向的科学性与前沿性。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5994400" y="5664200"/>
            <a:ext cx="5842000" cy="965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参考文献覆盖从宏观政策指引到微观技术落地的全维度内容，既包含国家级零碳园区建设标准与实施方案等顶层设计，也囊括工业园区碳排放核算、横向对标及减排策略的深度学术研究；同时纳入欧盟CBAM机制、IEA工业脱碳等国际前沿成果，以及生成式AI、智能体技术在双碳治理中的创新应用，构建了多视角、跨领域的研究参考基础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406400" y="4572000"/>
            <a:ext cx="6565900" cy="1333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7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406400" y="5994400"/>
            <a:ext cx="52197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期待各位老师的宝贵意见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406400" y="330200"/>
            <a:ext cx="584200" cy="19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项目汇报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130300" y="330200"/>
            <a:ext cx="584200" cy="19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演示文稿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1163300" y="317500"/>
            <a:ext cx="622300" cy="2667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LOGO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5019588" flipH="false" flipV="false">
            <a:off x="971550" y="419452"/>
            <a:ext cx="1143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5C7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{"Label":"1","ContentProducer":"001191110102MACQD9K64010000","ProduceID":"7658200392073923831","ReservedCode1":"","ContentPropagator":"","PropagateID":"","ReservedCode2":""}</vt:lpwstr>
  </property>
</Properties>
</file>